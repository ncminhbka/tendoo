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0698480" cy="2560320"/>
          </a:xfrm>
          <a:prstGeom prst="rect">
            <a:avLst/>
          </a:prstGeom>
          <a:noFill/>
        </p:spPr>
        <p:txBody>
          <a:bodyPr wrap="square">
            <a:spAutoFit/>
          </a:bodyPr>
          <a:lstStyle/>
          <a:p>
            <a:pPr>
              <a:defRPr sz="1300" b="1">
                <a:solidFill>
                  <a:srgbClr val="0284C7"/>
                </a:solidFill>
                <a:latin typeface="Segoe UI"/>
              </a:defRPr>
            </a:pPr>
            <a:r>
              <a:t>TENDOO AI — VIETTEL TELECOM R&amp;D 2026</a:t>
            </a:r>
          </a:p>
          <a:p>
            <a:pPr>
              <a:spcBef>
                <a:spcPts val="1200"/>
              </a:spcBef>
              <a:defRPr sz="3200" b="1">
                <a:solidFill>
                  <a:srgbClr val="0F172A"/>
                </a:solidFill>
                <a:latin typeface="Segoe UI"/>
              </a:defRPr>
            </a:pPr>
            <a:r>
              <a:t>Đột Phá Sinh Banner Quảng Cáo Đa Khối Chữ Tiếng Việt Trên FLUX.2 Klein 4B</a:t>
            </a:r>
          </a:p>
          <a:p>
            <a:pPr>
              <a:spcBef>
                <a:spcPts val="1400"/>
              </a:spcBef>
              <a:defRPr sz="1400">
                <a:solidFill>
                  <a:srgbClr val="64748B"/>
                </a:solidFill>
                <a:latin typeface="Segoe UI"/>
              </a:defRPr>
            </a:pPr>
            <a:r>
              <a:t>Báo cáo kết quả 61 thực nghiệm đối chứng, khám phá cơ chế 4D RoPE In-Context và Đề xuất kế hoạch hoàn thiện Phase 3 với chi phí tối ưu tuyệt đối.</a:t>
            </a:r>
          </a:p>
        </p:txBody>
      </p:sp>
      <p:sp>
        <p:nvSpPr>
          <p:cNvPr id="4" name="Rounded Rectangle 3"/>
          <p:cNvSpPr/>
          <p:nvPr/>
        </p:nvSpPr>
        <p:spPr>
          <a:xfrm>
            <a:off x="731520" y="4114800"/>
            <a:ext cx="2542032"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297680"/>
            <a:ext cx="2267712" cy="1371600"/>
          </a:xfrm>
          <a:prstGeom prst="rect">
            <a:avLst/>
          </a:prstGeom>
          <a:noFill/>
        </p:spPr>
        <p:txBody>
          <a:bodyPr wrap="none">
            <a:spAutoFit/>
          </a:bodyPr>
          <a:lstStyle/>
          <a:p>
            <a:pPr>
              <a:defRPr sz="3600" b="1">
                <a:solidFill>
                  <a:srgbClr val="0F172A"/>
                </a:solidFill>
                <a:latin typeface="Segoe UI"/>
              </a:defRPr>
            </a:pPr>
            <a:r>
              <a:t>61</a:t>
            </a:r>
          </a:p>
          <a:p>
            <a:pPr>
              <a:spcBef>
                <a:spcPts val="600"/>
              </a:spcBef>
              <a:defRPr sz="1200" b="1">
                <a:solidFill>
                  <a:srgbClr val="64748B"/>
                </a:solidFill>
                <a:latin typeface="Segoe UI"/>
              </a:defRPr>
            </a:pPr>
            <a:r>
              <a:t>Thực nghiệm đối chứng</a:t>
            </a:r>
          </a:p>
        </p:txBody>
      </p:sp>
      <p:sp>
        <p:nvSpPr>
          <p:cNvPr id="6" name="Rounded Rectangle 5"/>
          <p:cNvSpPr/>
          <p:nvPr/>
        </p:nvSpPr>
        <p:spPr>
          <a:xfrm>
            <a:off x="3456432" y="4114800"/>
            <a:ext cx="2542032"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93592" y="4297680"/>
            <a:ext cx="2267712" cy="1371600"/>
          </a:xfrm>
          <a:prstGeom prst="rect">
            <a:avLst/>
          </a:prstGeom>
          <a:noFill/>
        </p:spPr>
        <p:txBody>
          <a:bodyPr wrap="none">
            <a:spAutoFit/>
          </a:bodyPr>
          <a:lstStyle/>
          <a:p>
            <a:pPr>
              <a:defRPr sz="3600" b="1">
                <a:solidFill>
                  <a:srgbClr val="059669"/>
                </a:solidFill>
                <a:latin typeface="Segoe UI"/>
              </a:defRPr>
            </a:pPr>
            <a:r>
              <a:t>100%</a:t>
            </a:r>
          </a:p>
          <a:p>
            <a:pPr>
              <a:spcBef>
                <a:spcPts val="600"/>
              </a:spcBef>
              <a:defRPr sz="1200" b="1">
                <a:solidFill>
                  <a:srgbClr val="64748B"/>
                </a:solidFill>
                <a:latin typeface="Segoe UI"/>
              </a:defRPr>
            </a:pPr>
            <a:r>
              <a:t>Chính xác Tiếng Việt</a:t>
            </a:r>
          </a:p>
        </p:txBody>
      </p:sp>
      <p:sp>
        <p:nvSpPr>
          <p:cNvPr id="8" name="Rounded Rectangle 7"/>
          <p:cNvSpPr/>
          <p:nvPr/>
        </p:nvSpPr>
        <p:spPr>
          <a:xfrm>
            <a:off x="6181344" y="4114800"/>
            <a:ext cx="2542032"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18504" y="4297680"/>
            <a:ext cx="2267712" cy="1371600"/>
          </a:xfrm>
          <a:prstGeom prst="rect">
            <a:avLst/>
          </a:prstGeom>
          <a:noFill/>
        </p:spPr>
        <p:txBody>
          <a:bodyPr wrap="none">
            <a:spAutoFit/>
          </a:bodyPr>
          <a:lstStyle/>
          <a:p>
            <a:pPr>
              <a:defRPr sz="3600" b="1">
                <a:solidFill>
                  <a:srgbClr val="0284C7"/>
                </a:solidFill>
                <a:latin typeface="Segoe UI"/>
              </a:defRPr>
            </a:pPr>
            <a:r>
              <a:t>23.6M</a:t>
            </a:r>
          </a:p>
          <a:p>
            <a:pPr>
              <a:spcBef>
                <a:spcPts val="600"/>
              </a:spcBef>
              <a:defRPr sz="1200" b="1">
                <a:solidFill>
                  <a:srgbClr val="64748B"/>
                </a:solidFill>
                <a:latin typeface="Segoe UI"/>
              </a:defRPr>
            </a:pPr>
            <a:r>
              <a:t>Tham số LoRA (0.58%)</a:t>
            </a:r>
          </a:p>
        </p:txBody>
      </p:sp>
      <p:sp>
        <p:nvSpPr>
          <p:cNvPr id="10" name="Rounded Rectangle 9"/>
          <p:cNvSpPr/>
          <p:nvPr/>
        </p:nvSpPr>
        <p:spPr>
          <a:xfrm>
            <a:off x="8906256" y="4114800"/>
            <a:ext cx="2542032"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43416" y="4297680"/>
            <a:ext cx="2267712" cy="1371600"/>
          </a:xfrm>
          <a:prstGeom prst="rect">
            <a:avLst/>
          </a:prstGeom>
          <a:noFill/>
        </p:spPr>
        <p:txBody>
          <a:bodyPr wrap="none">
            <a:spAutoFit/>
          </a:bodyPr>
          <a:lstStyle/>
          <a:p>
            <a:pPr>
              <a:defRPr sz="3600" b="1">
                <a:solidFill>
                  <a:srgbClr val="D97706"/>
                </a:solidFill>
                <a:latin typeface="Segoe UI"/>
              </a:defRPr>
            </a:pPr>
            <a:r>
              <a:t>$15</a:t>
            </a:r>
          </a:p>
          <a:p>
            <a:pPr>
              <a:spcBef>
                <a:spcPts val="600"/>
              </a:spcBef>
              <a:defRPr sz="1200" b="1">
                <a:solidFill>
                  <a:srgbClr val="64748B"/>
                </a:solidFill>
                <a:latin typeface="Segoe UI"/>
              </a:defRPr>
            </a:pPr>
            <a:r>
              <a:t>Kinh phí đề xuất 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100" b="1">
                <a:solidFill>
                  <a:srgbClr val="0284C7"/>
                </a:solidFill>
                <a:latin typeface="Segoe UI"/>
              </a:defRPr>
            </a:pPr>
            <a:r>
              <a:t>TENDOO AI  |  KIẾN TRÚC HỆ THỐNG</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Segoe UI"/>
              </a:defRPr>
            </a:pPr>
            <a:r>
              <a:t>02 / 10</a:t>
            </a:r>
          </a:p>
        </p:txBody>
      </p:sp>
      <p:sp>
        <p:nvSpPr>
          <p:cNvPr id="5" name="TextBox 4"/>
          <p:cNvSpPr txBox="1"/>
          <p:nvPr/>
        </p:nvSpPr>
        <p:spPr>
          <a:xfrm>
            <a:off x="731520" y="685800"/>
            <a:ext cx="10698480" cy="731520"/>
          </a:xfrm>
          <a:prstGeom prst="rect">
            <a:avLst/>
          </a:prstGeom>
          <a:noFill/>
        </p:spPr>
        <p:txBody>
          <a:bodyPr wrap="square">
            <a:spAutoFit/>
          </a:bodyPr>
          <a:lstStyle/>
          <a:p>
            <a:pPr>
              <a:defRPr sz="2400" b="1">
                <a:solidFill>
                  <a:srgbClr val="0F172A"/>
                </a:solidFill>
                <a:latin typeface="Segoe UI"/>
              </a:defRPr>
            </a:pPr>
            <a:r>
              <a:t>Cấu Trúc FLUX.2 Klein 4B Base &amp; Nguyên Tắc Phân Công Lao Động</a:t>
            </a:r>
          </a:p>
        </p:txBody>
      </p:sp>
      <p:sp>
        <p:nvSpPr>
          <p:cNvPr id="6" name="Rounded Rectangle 5"/>
          <p:cNvSpPr/>
          <p:nvPr/>
        </p:nvSpPr>
        <p:spPr>
          <a:xfrm>
            <a:off x="731520" y="1645920"/>
            <a:ext cx="3456432"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90672" cy="4023360"/>
          </a:xfrm>
          <a:prstGeom prst="rect">
            <a:avLst/>
          </a:prstGeom>
          <a:noFill/>
        </p:spPr>
        <p:txBody>
          <a:bodyPr wrap="square">
            <a:spAutoFit/>
          </a:bodyPr>
          <a:lstStyle/>
          <a:p>
            <a:pPr>
              <a:defRPr sz="1400" b="1">
                <a:solidFill>
                  <a:srgbClr val="7C3AED"/>
                </a:solidFill>
                <a:latin typeface="Segoe UI"/>
              </a:defRPr>
            </a:pPr>
            <a:r>
              <a:t>1. TEXT ENCODER (Qwen3-4B-FP8)</a:t>
            </a:r>
          </a:p>
          <a:p>
            <a:pPr>
              <a:spcBef>
                <a:spcPts val="1400"/>
              </a:spcBef>
              <a:defRPr sz="1200">
                <a:solidFill>
                  <a:srgbClr val="0F172A"/>
                </a:solidFill>
                <a:latin typeface="Segoe UI"/>
              </a:defRPr>
            </a:pPr>
            <a:r>
              <a:t>Trích xuất 3 tầng cố định [9, 18, 27] tạo Context Vector 7680-dim.</a:t>
            </a:r>
            <a:br/>
            <a:r>
              <a:t>• Đảm nhận: 100% về CHẤT LIỆU, ÁNH SÁNG, PHONG CÁCH QUANG HỌC.</a:t>
            </a:r>
            <a:br/>
            <a:r>
              <a:t>• Điểm yếu: Không hiểu hình học nét chữ 2D tiếng Việt.</a:t>
            </a:r>
          </a:p>
        </p:txBody>
      </p:sp>
      <p:sp>
        <p:nvSpPr>
          <p:cNvPr id="8" name="Rounded Rectangle 7"/>
          <p:cNvSpPr/>
          <p:nvPr/>
        </p:nvSpPr>
        <p:spPr>
          <a:xfrm>
            <a:off x="4370832" y="1645920"/>
            <a:ext cx="3456432"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828800"/>
            <a:ext cx="3090672" cy="4023360"/>
          </a:xfrm>
          <a:prstGeom prst="rect">
            <a:avLst/>
          </a:prstGeom>
          <a:noFill/>
        </p:spPr>
        <p:txBody>
          <a:bodyPr wrap="square">
            <a:spAutoFit/>
          </a:bodyPr>
          <a:lstStyle/>
          <a:p>
            <a:pPr>
              <a:defRPr sz="1400" b="1">
                <a:solidFill>
                  <a:srgbClr val="0284C7"/>
                </a:solidFill>
                <a:latin typeface="Segoe UI"/>
              </a:defRPr>
            </a:pPr>
            <a:r>
              <a:t>2. DIT 4B (FLUX.2 Transformer)</a:t>
            </a:r>
          </a:p>
          <a:p>
            <a:pPr>
              <a:spcBef>
                <a:spcPts val="1400"/>
              </a:spcBef>
              <a:defRPr sz="1200">
                <a:solidFill>
                  <a:srgbClr val="0F172A"/>
                </a:solidFill>
                <a:latin typeface="Segoe UI"/>
              </a:defRPr>
            </a:pPr>
            <a:r>
              <a:t>5 DoubleStreamBlocks + 20 SingleStreamBlocks (d_model=3072).</a:t>
            </a:r>
            <a:br/>
            <a:r>
              <a:t>• Đảm nhận: Hòa trộn đa phương thức qua không gian 4D RoPE (t, h, w, l).</a:t>
            </a:r>
            <a:br/>
            <a:r>
              <a:t>• Trọng tâm Phase 3: Tinh chỉnh Attention Routing phân luồng đa slot.</a:t>
            </a:r>
          </a:p>
        </p:txBody>
      </p:sp>
      <p:sp>
        <p:nvSpPr>
          <p:cNvPr id="10" name="Rounded Rectangle 9"/>
          <p:cNvSpPr/>
          <p:nvPr/>
        </p:nvSpPr>
        <p:spPr>
          <a:xfrm>
            <a:off x="8010144" y="1645920"/>
            <a:ext cx="3456432"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4" y="1828800"/>
            <a:ext cx="3090672" cy="4023360"/>
          </a:xfrm>
          <a:prstGeom prst="rect">
            <a:avLst/>
          </a:prstGeom>
          <a:noFill/>
        </p:spPr>
        <p:txBody>
          <a:bodyPr wrap="square">
            <a:spAutoFit/>
          </a:bodyPr>
          <a:lstStyle/>
          <a:p>
            <a:pPr>
              <a:defRPr sz="1400" b="1">
                <a:solidFill>
                  <a:srgbClr val="059669"/>
                </a:solidFill>
                <a:latin typeface="Segoe UI"/>
              </a:defRPr>
            </a:pPr>
            <a:r>
              <a:t>3. AUTOENCODER (VAE Decoder)</a:t>
            </a:r>
          </a:p>
          <a:p>
            <a:pPr>
              <a:spcBef>
                <a:spcPts val="1400"/>
              </a:spcBef>
              <a:defRPr sz="1200">
                <a:solidFill>
                  <a:srgbClr val="0F172A"/>
                </a:solidFill>
                <a:latin typeface="Segoe UI"/>
              </a:defRPr>
            </a:pPr>
            <a:r>
              <a:t>Nén không gian 16x với 128 latent channels.</a:t>
            </a:r>
            <a:br/>
            <a:r>
              <a:t>• Đảm nhận: 100% về HÌNH HỌC, FONT CHỮ VÀ CHÍNH TẢ từ Glyph.</a:t>
            </a:r>
            <a:br/>
            <a:r>
              <a:t>• Điểm an toàn: Cỡ chữ &gt;= 40px và Box cao &gt;= 160px không bao giờ mất dấu!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100" b="1">
                <a:solidFill>
                  <a:srgbClr val="0284C7"/>
                </a:solidFill>
                <a:latin typeface="Segoe UI"/>
              </a:defRPr>
            </a:pPr>
            <a:r>
              <a:t>TENDOO AI  |  NGHIÊN CỨU LÝ THUYẾT &amp; PAPERS</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Segoe UI"/>
              </a:defRPr>
            </a:pPr>
            <a:r>
              <a:t>03 / 10</a:t>
            </a:r>
          </a:p>
        </p:txBody>
      </p:sp>
      <p:sp>
        <p:nvSpPr>
          <p:cNvPr id="5" name="TextBox 4"/>
          <p:cNvSpPr txBox="1"/>
          <p:nvPr/>
        </p:nvSpPr>
        <p:spPr>
          <a:xfrm>
            <a:off x="731520" y="685800"/>
            <a:ext cx="10698480" cy="731520"/>
          </a:xfrm>
          <a:prstGeom prst="rect">
            <a:avLst/>
          </a:prstGeom>
          <a:noFill/>
        </p:spPr>
        <p:txBody>
          <a:bodyPr wrap="square">
            <a:spAutoFit/>
          </a:bodyPr>
          <a:lstStyle/>
          <a:p>
            <a:pPr>
              <a:defRPr sz="2400" b="1">
                <a:solidFill>
                  <a:srgbClr val="0F172A"/>
                </a:solidFill>
                <a:latin typeface="Segoe UI"/>
              </a:defRPr>
            </a:pPr>
            <a:r>
              <a:t>Bản Chất Gốc Rễ: Vì Sao Text Encoder Không Thể Vẽ Chữ Tiếng Việt?</a:t>
            </a:r>
          </a:p>
        </p:txBody>
      </p:sp>
      <p:sp>
        <p:nvSpPr>
          <p:cNvPr id="6" name="Rounded Rectangle 5"/>
          <p:cNvSpPr/>
          <p:nvPr/>
        </p:nvSpPr>
        <p:spPr>
          <a:xfrm>
            <a:off x="731520" y="1645920"/>
            <a:ext cx="52578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20"/>
            <a:ext cx="4800600" cy="3931920"/>
          </a:xfrm>
          <a:prstGeom prst="rect">
            <a:avLst/>
          </a:prstGeom>
          <a:noFill/>
        </p:spPr>
        <p:txBody>
          <a:bodyPr wrap="square">
            <a:spAutoFit/>
          </a:bodyPr>
          <a:lstStyle/>
          <a:p>
            <a:pPr>
              <a:defRPr sz="1600" b="1">
                <a:solidFill>
                  <a:srgbClr val="D97706"/>
                </a:solidFill>
                <a:latin typeface="Segoe UI"/>
              </a:defRPr>
            </a:pPr>
            <a:r>
              <a:t>❌ Điểm Mù Không Gian 2D của LLM</a:t>
            </a:r>
          </a:p>
          <a:p>
            <a:pPr>
              <a:spcBef>
                <a:spcPts val="1400"/>
              </a:spcBef>
              <a:defRPr sz="1200">
                <a:solidFill>
                  <a:srgbClr val="0F172A"/>
                </a:solidFill>
                <a:latin typeface="Segoe UI"/>
              </a:defRPr>
            </a:pPr>
            <a:r>
              <a:t>Các LLM ngôn ngữ thuần túy như Qwen3 chỉ xử lý chuỗi token 1D ngữ nghĩa. Chúng hoàn toàn không có biểu diễn tọa độ 2D về nét bút, vị trí dấu mũ (Â, Ô), dấu móc (Ơ, Ư) hay thanh điệu (Dấu hỏi, ngã, nặng).</a:t>
            </a:r>
            <a:br/>
            <a:br/>
            <a:r>
              <a:t>📌 Minh chứng từ BFL: Ở các phiên bản lớn hơn (9B / Dev), Black Forest Labs bắt buộc phải nâng cấp lên Vision-Language Model (VLM) đa phương thức để bù đắp điểm mù này!</a:t>
            </a:r>
          </a:p>
        </p:txBody>
      </p:sp>
      <p:sp>
        <p:nvSpPr>
          <p:cNvPr id="8" name="Rounded Rectangle 7"/>
          <p:cNvSpPr/>
          <p:nvPr/>
        </p:nvSpPr>
        <p:spPr>
          <a:xfrm>
            <a:off x="6172200" y="1645920"/>
            <a:ext cx="5257800" cy="4389120"/>
          </a:xfrm>
          <a:prstGeom prst="roundRect">
            <a:avLst/>
          </a:prstGeom>
          <a:solidFill>
            <a:srgbClr val="F0F9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74520"/>
            <a:ext cx="4800600" cy="3931920"/>
          </a:xfrm>
          <a:prstGeom prst="rect">
            <a:avLst/>
          </a:prstGeom>
          <a:noFill/>
        </p:spPr>
        <p:txBody>
          <a:bodyPr wrap="square">
            <a:spAutoFit/>
          </a:bodyPr>
          <a:lstStyle/>
          <a:p>
            <a:pPr>
              <a:defRPr sz="1600" b="1">
                <a:solidFill>
                  <a:srgbClr val="0284C7"/>
                </a:solidFill>
                <a:latin typeface="Segoe UI"/>
              </a:defRPr>
            </a:pPr>
            <a:r>
              <a:t>❌ Hiện Tượng Xung Đột Biểu Diễn (Semantic Clash)</a:t>
            </a:r>
          </a:p>
          <a:p>
            <a:pPr>
              <a:spcBef>
                <a:spcPts val="1400"/>
              </a:spcBef>
              <a:defRPr sz="1200">
                <a:solidFill>
                  <a:srgbClr val="0F172A"/>
                </a:solidFill>
                <a:latin typeface="Segoe UI"/>
              </a:defRPr>
            </a:pPr>
            <a:r>
              <a:t>Khi prompt người dùng ghi rõ chữ tiếng Việt (ví dụ: 'vẽ chữ ÂM THANH ĐỈNH CAO'), Qwen3 cố gắng tự sinh chữ từ kiến thức tiền huấn luyện lỗi thời.</a:t>
            </a:r>
            <a:br/>
            <a:br/>
            <a:r>
              <a:t>Tín hiệu lỗi này xung đột trực tiếp với tín hiệu In-Context Glyph Bitmap chuẩn từ VAE, khiến DiT bị nhiễu loạn và làm vỡ nát nét chữ!</a:t>
            </a:r>
            <a:br/>
            <a:br/>
            <a:r>
              <a:t>👉 Quy Tắc Vàng: Text Prompt BẮT BUỘC LÀM SẠCH (chỉ tả bối cảnh &amp; ánh sáng), để Glyph chịu trách nhiệm 100% chính tả.</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100" b="1">
                <a:solidFill>
                  <a:srgbClr val="0284C7"/>
                </a:solidFill>
                <a:latin typeface="Segoe UI"/>
              </a:defRPr>
            </a:pPr>
            <a:r>
              <a:t>TENDOO AI  |  SÁNG KIẾN KỸ THUẬT</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Segoe UI"/>
              </a:defRPr>
            </a:pPr>
            <a:r>
              <a:t>04 / 10</a:t>
            </a:r>
          </a:p>
        </p:txBody>
      </p:sp>
      <p:sp>
        <p:nvSpPr>
          <p:cNvPr id="5" name="TextBox 4"/>
          <p:cNvSpPr txBox="1"/>
          <p:nvPr/>
        </p:nvSpPr>
        <p:spPr>
          <a:xfrm>
            <a:off x="731520" y="685800"/>
            <a:ext cx="10698480" cy="731520"/>
          </a:xfrm>
          <a:prstGeom prst="rect">
            <a:avLst/>
          </a:prstGeom>
          <a:noFill/>
        </p:spPr>
        <p:txBody>
          <a:bodyPr wrap="square">
            <a:spAutoFit/>
          </a:bodyPr>
          <a:lstStyle/>
          <a:p>
            <a:pPr>
              <a:defRPr sz="2400" b="1">
                <a:solidFill>
                  <a:srgbClr val="0F172A"/>
                </a:solidFill>
                <a:latin typeface="Segoe UI"/>
              </a:defRPr>
            </a:pPr>
            <a:r>
              <a:t>Giải Pháp Đột Phá: Dynamic Glyph In-Context Conditioning</a:t>
            </a:r>
          </a:p>
        </p:txBody>
      </p:sp>
      <p:sp>
        <p:nvSpPr>
          <p:cNvPr id="6" name="Rounded Rectangle 5"/>
          <p:cNvSpPr/>
          <p:nvPr/>
        </p:nvSpPr>
        <p:spPr>
          <a:xfrm>
            <a:off x="731520" y="1645920"/>
            <a:ext cx="3456432"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90672" cy="4023360"/>
          </a:xfrm>
          <a:prstGeom prst="rect">
            <a:avLst/>
          </a:prstGeom>
          <a:noFill/>
        </p:spPr>
        <p:txBody>
          <a:bodyPr wrap="square">
            <a:spAutoFit/>
          </a:bodyPr>
          <a:lstStyle/>
          <a:p>
            <a:pPr>
              <a:defRPr sz="1400" b="1">
                <a:solidFill>
                  <a:srgbClr val="0284C7"/>
                </a:solidFill>
                <a:latin typeface="Segoe UI"/>
              </a:defRPr>
            </a:pPr>
            <a:r>
              <a:t>🔤 1. Render Glyph Đen-Trắng Chuẩn TTF</a:t>
            </a:r>
          </a:p>
          <a:p>
            <a:pPr>
              <a:spcBef>
                <a:spcPts val="1400"/>
              </a:spcBef>
              <a:defRPr sz="1200">
                <a:solidFill>
                  <a:srgbClr val="0F172A"/>
                </a:solidFill>
                <a:latin typeface="Segoe UI"/>
              </a:defRPr>
            </a:pPr>
            <a:r>
              <a:t>Dùng Python PIL/OpenCV render trực tiếp file font thương mại (Anton, BeVietnamPro, Pacifico, Playfair, Sedgwick). Đảm bảo 100% hình học Unicode tiếng Việt chuẩn xác trước khi nạp vào VAE.</a:t>
            </a:r>
          </a:p>
        </p:txBody>
      </p:sp>
      <p:sp>
        <p:nvSpPr>
          <p:cNvPr id="8" name="Rounded Rectangle 7"/>
          <p:cNvSpPr/>
          <p:nvPr/>
        </p:nvSpPr>
        <p:spPr>
          <a:xfrm>
            <a:off x="4370832" y="1645920"/>
            <a:ext cx="3456432"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828800"/>
            <a:ext cx="3090672" cy="4023360"/>
          </a:xfrm>
          <a:prstGeom prst="rect">
            <a:avLst/>
          </a:prstGeom>
          <a:noFill/>
        </p:spPr>
        <p:txBody>
          <a:bodyPr wrap="square">
            <a:spAutoFit/>
          </a:bodyPr>
          <a:lstStyle/>
          <a:p>
            <a:pPr>
              <a:defRPr sz="1400" b="1">
                <a:solidFill>
                  <a:srgbClr val="059669"/>
                </a:solidFill>
                <a:latin typeface="Segoe UI"/>
              </a:defRPr>
            </a:pPr>
            <a:r>
              <a:t>📐 2. Quy Luật Kích Thước Động (Dynamic Sizing)</a:t>
            </a:r>
          </a:p>
          <a:p>
            <a:pPr>
              <a:spcBef>
                <a:spcPts val="1400"/>
              </a:spcBef>
              <a:defRPr sz="1200">
                <a:solidFill>
                  <a:srgbClr val="0F172A"/>
                </a:solidFill>
                <a:latin typeface="Segoe UI"/>
              </a:defRPr>
            </a:pPr>
            <a:r>
              <a:t>Box tự động co giãn theo số từ và số dòng. Luôn đảm bảo Chiều cao &gt;= 160px (&gt;= 10 latent tokens) và Font size &gt;= 40px -&gt; Vượt xa ngưỡng nén 16x của VAE, tiết kiệm &gt;40% sequence length.</a:t>
            </a:r>
          </a:p>
        </p:txBody>
      </p:sp>
      <p:sp>
        <p:nvSpPr>
          <p:cNvPr id="10" name="Rounded Rectangle 9"/>
          <p:cNvSpPr/>
          <p:nvPr/>
        </p:nvSpPr>
        <p:spPr>
          <a:xfrm>
            <a:off x="8010144" y="1645920"/>
            <a:ext cx="3456432"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4" y="1828800"/>
            <a:ext cx="3090672" cy="4023360"/>
          </a:xfrm>
          <a:prstGeom prst="rect">
            <a:avLst/>
          </a:prstGeom>
          <a:noFill/>
        </p:spPr>
        <p:txBody>
          <a:bodyPr wrap="square">
            <a:spAutoFit/>
          </a:bodyPr>
          <a:lstStyle/>
          <a:p>
            <a:pPr>
              <a:defRPr sz="1400" b="1">
                <a:solidFill>
                  <a:srgbClr val="7C3AED"/>
                </a:solidFill>
                <a:latin typeface="Segoe UI"/>
              </a:defRPr>
            </a:pPr>
            <a:r>
              <a:t>🎨 3. Đa Dạng Font Chuẩn 5 Ngành Hàng</a:t>
            </a:r>
          </a:p>
          <a:p>
            <a:pPr>
              <a:spcBef>
                <a:spcPts val="1400"/>
              </a:spcBef>
              <a:defRPr sz="1200">
                <a:solidFill>
                  <a:srgbClr val="0F172A"/>
                </a:solidFill>
                <a:latin typeface="Segoe UI"/>
              </a:defRPr>
            </a:pPr>
            <a:r>
              <a:t>Ánh xạ 1:1 theo Domain: F&amp;B (Khắc gỗ/Neon Sedgwick), Tech (Kim loại Anton), Fashion (Gold Serif Playfair), Spa (Cursive mềm mại), FMCG (Pop-art dập nổi Gotham/Oswald).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100" b="1">
                <a:solidFill>
                  <a:srgbClr val="0284C7"/>
                </a:solidFill>
                <a:latin typeface="Segoe UI"/>
              </a:defRPr>
            </a:pPr>
            <a:r>
              <a:t>TENDOO AI  |  KẾT QUẢ THỰC NGHIỆM ĐỈNH CAO</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Segoe UI"/>
              </a:defRPr>
            </a:pPr>
            <a:r>
              <a:t>05 / 10</a:t>
            </a:r>
          </a:p>
        </p:txBody>
      </p:sp>
      <p:sp>
        <p:nvSpPr>
          <p:cNvPr id="5" name="TextBox 4"/>
          <p:cNvSpPr txBox="1"/>
          <p:nvPr/>
        </p:nvSpPr>
        <p:spPr>
          <a:xfrm>
            <a:off x="731520" y="685800"/>
            <a:ext cx="10698480" cy="731520"/>
          </a:xfrm>
          <a:prstGeom prst="rect">
            <a:avLst/>
          </a:prstGeom>
          <a:noFill/>
        </p:spPr>
        <p:txBody>
          <a:bodyPr wrap="square">
            <a:spAutoFit/>
          </a:bodyPr>
          <a:lstStyle/>
          <a:p>
            <a:pPr>
              <a:defRPr sz="2400" b="1">
                <a:solidFill>
                  <a:srgbClr val="0F172A"/>
                </a:solidFill>
                <a:latin typeface="Segoe UI"/>
              </a:defRPr>
            </a:pPr>
            <a:r>
              <a:t>Showcase 1: Khắc Phục Nén VAE Với Bài Thơ Dài (28 Từ, 119 Ký Tự)</a:t>
            </a:r>
          </a:p>
        </p:txBody>
      </p:sp>
      <p:sp>
        <p:nvSpPr>
          <p:cNvPr id="6" name="Rounded Rectangle 5"/>
          <p:cNvSpPr/>
          <p:nvPr/>
        </p:nvSpPr>
        <p:spPr>
          <a:xfrm>
            <a:off x="731520" y="1645920"/>
            <a:ext cx="52578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20"/>
            <a:ext cx="4800600" cy="3931920"/>
          </a:xfrm>
          <a:prstGeom prst="rect">
            <a:avLst/>
          </a:prstGeom>
          <a:noFill/>
        </p:spPr>
        <p:txBody>
          <a:bodyPr wrap="square">
            <a:spAutoFit/>
          </a:bodyPr>
          <a:lstStyle/>
          <a:p>
            <a:pPr>
              <a:defRPr sz="1500" b="1">
                <a:solidFill>
                  <a:srgbClr val="0284C7"/>
                </a:solidFill>
              </a:defRPr>
            </a:pPr>
            <a:r>
              <a:t>🏆 ĐỘT PHÁ EXP54: 100% CHÍNH TẢ BÀI THƠ 4 CÂU</a:t>
            </a:r>
          </a:p>
          <a:p>
            <a:pPr>
              <a:spcBef>
                <a:spcPts val="1200"/>
              </a:spcBef>
              <a:defRPr sz="1200">
                <a:solidFill>
                  <a:srgbClr val="0F172A"/>
                </a:solidFill>
              </a:defRPr>
            </a:pPr>
            <a:r>
              <a:t>• Lầm tưởng ban đầu (exp52): Cho rằng mô hình Base 4B bị giới hạn trí nhớ không thể sinh được bài thơ dài 4 câu.</a:t>
            </a:r>
            <a:br/>
            <a:br/>
            <a:r>
              <a:t>• Bản chất thật: Do ép 4 dòng vào Box nhỏ (512x224px) khiến font size bị co xuống 18px -&gt; sụp đổ đặc trưng khi VAE nén 16x.</a:t>
            </a:r>
            <a:br/>
            <a:br/>
            <a:r>
              <a:t>• Thành công rực rỡ (exp54): Khi mở rộng Box lên 896x512px (font size ~46px), FLUX 4B sinh ảnh KHÔNG SAI MỘT DẤU NÀO cả bài thơ 4 câu 'Tây Tiến' khắc chìm mạ vàng trên vách đá sa thạch!</a:t>
            </a:r>
          </a:p>
        </p:txBody>
      </p:sp>
      <p:sp>
        <p:nvSpPr>
          <p:cNvPr id="8" name="Rounded Rectangle 7"/>
          <p:cNvSpPr/>
          <p:nvPr/>
        </p:nvSpPr>
        <p:spPr>
          <a:xfrm>
            <a:off x="6172200" y="1645920"/>
            <a:ext cx="5257800" cy="4389120"/>
          </a:xfrm>
          <a:prstGeom prst="roundRect">
            <a:avLst/>
          </a:prstGeom>
          <a:solidFill>
            <a:srgbClr val="F0F9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3291840"/>
            <a:ext cx="4709160" cy="1371600"/>
          </a:xfrm>
          <a:prstGeom prst="rect">
            <a:avLst/>
          </a:prstGeom>
          <a:noFill/>
        </p:spPr>
        <p:txBody>
          <a:bodyPr wrap="square">
            <a:spAutoFit/>
          </a:bodyPr>
          <a:lstStyle/>
          <a:p>
            <a:pPr algn="ctr">
              <a:defRPr sz="1300" b="1">
                <a:solidFill>
                  <a:srgbClr val="0284C7"/>
                </a:solidFill>
              </a:defRPr>
            </a:pPr>
            <a:r>
              <a:t>📸 [CHÈN ẢNH EXP54 TẠI ĐÂY]</a:t>
            </a:r>
            <a:br/>
            <a:r>
              <a:t>File: tay_tien_hires_glyph_4lines.png</a:t>
            </a:r>
            <a:br/>
            <a:r>
              <a:t>(Vách đá sa thạch mạ vàng 4 câu thơ Tây Tiến)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100" b="1">
                <a:solidFill>
                  <a:srgbClr val="0284C7"/>
                </a:solidFill>
                <a:latin typeface="Segoe UI"/>
              </a:defRPr>
            </a:pPr>
            <a:r>
              <a:t>TENDOO AI  |  NĂNG LỰC QUANG HỌC &amp; CHẤT LIỆU</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Segoe UI"/>
              </a:defRPr>
            </a:pPr>
            <a:r>
              <a:t>06 / 10</a:t>
            </a:r>
          </a:p>
        </p:txBody>
      </p:sp>
      <p:sp>
        <p:nvSpPr>
          <p:cNvPr id="5" name="TextBox 4"/>
          <p:cNvSpPr txBox="1"/>
          <p:nvPr/>
        </p:nvSpPr>
        <p:spPr>
          <a:xfrm>
            <a:off x="731520" y="685800"/>
            <a:ext cx="10698480" cy="731520"/>
          </a:xfrm>
          <a:prstGeom prst="rect">
            <a:avLst/>
          </a:prstGeom>
          <a:noFill/>
        </p:spPr>
        <p:txBody>
          <a:bodyPr wrap="square">
            <a:spAutoFit/>
          </a:bodyPr>
          <a:lstStyle/>
          <a:p>
            <a:pPr>
              <a:defRPr sz="2400" b="1">
                <a:solidFill>
                  <a:srgbClr val="0F172A"/>
                </a:solidFill>
                <a:latin typeface="Segoe UI"/>
              </a:defRPr>
            </a:pPr>
            <a:r>
              <a:t>Showcase 2: Biến Hóa Chất Liệu 3D &amp; Hòa Trộn Sản Phẩm Thật</a:t>
            </a:r>
          </a:p>
        </p:txBody>
      </p:sp>
      <p:sp>
        <p:nvSpPr>
          <p:cNvPr id="6" name="Rounded Rectangle 5"/>
          <p:cNvSpPr/>
          <p:nvPr/>
        </p:nvSpPr>
        <p:spPr>
          <a:xfrm>
            <a:off x="731520" y="1645920"/>
            <a:ext cx="52578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20"/>
            <a:ext cx="4800600" cy="3931920"/>
          </a:xfrm>
          <a:prstGeom prst="rect">
            <a:avLst/>
          </a:prstGeom>
          <a:noFill/>
        </p:spPr>
        <p:txBody>
          <a:bodyPr wrap="square">
            <a:spAutoFit/>
          </a:bodyPr>
          <a:lstStyle/>
          <a:p>
            <a:pPr>
              <a:defRPr sz="1500" b="1">
                <a:solidFill>
                  <a:srgbClr val="059669"/>
                </a:solidFill>
              </a:defRPr>
            </a:pPr>
            <a:r>
              <a:t>💎 ĐỊNH LUẬT BẢO TOÀN ĐƠN KHỐI (exp50 - exp51)</a:t>
            </a:r>
          </a:p>
          <a:p>
            <a:pPr>
              <a:spcBef>
                <a:spcPts val="1200"/>
              </a:spcBef>
              <a:defRPr sz="1200">
                <a:solidFill>
                  <a:srgbClr val="0F172A"/>
                </a:solidFill>
              </a:defRPr>
            </a:pPr>
            <a:r>
              <a:t>• Khi chỉ có 1 Khối Text (t=10.0) + 1 Ảnh Sản Phẩm (t=60.0):</a:t>
            </a:r>
            <a:br/>
            <a:r>
              <a:t>  Chữ LUÔN LUÔN ĐƯỢC GIỮ ĐẸP VÀ CHUẨN XÁC 100%, tự động biến hóa mượt mà theo chất liệu trong Prompt (chữ vàng 3D dập nổi, đèn neon phát quang, đổ bóng studio).</a:t>
            </a:r>
            <a:br/>
            <a:br/>
            <a:r>
              <a:t>• Ảnh sản phẩm thật (4096 tokens) được bảo tồn 100% góc nhìn, ánh sáng và chi tiết thương hiệu.</a:t>
            </a:r>
            <a:br/>
            <a:br/>
            <a:r>
              <a:t>👉 Khẳng định: Mô hình Base 4B đã hoàn toàn sẵn sàng cho bài toán 1 Text + 1 Sản phẩm!</a:t>
            </a:r>
          </a:p>
        </p:txBody>
      </p:sp>
      <p:sp>
        <p:nvSpPr>
          <p:cNvPr id="8" name="Rounded Rectangle 7"/>
          <p:cNvSpPr/>
          <p:nvPr/>
        </p:nvSpPr>
        <p:spPr>
          <a:xfrm>
            <a:off x="6172200" y="1645920"/>
            <a:ext cx="5257800" cy="4389120"/>
          </a:xfrm>
          <a:prstGeom prst="roundRect">
            <a:avLst/>
          </a:prstGeom>
          <a:solidFill>
            <a:srgbClr val="F0F9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3291840"/>
            <a:ext cx="4709160" cy="1371600"/>
          </a:xfrm>
          <a:prstGeom prst="rect">
            <a:avLst/>
          </a:prstGeom>
          <a:noFill/>
        </p:spPr>
        <p:txBody>
          <a:bodyPr wrap="square">
            <a:spAutoFit/>
          </a:bodyPr>
          <a:lstStyle/>
          <a:p>
            <a:pPr algn="ctr">
              <a:defRPr sz="1300" b="1">
                <a:solidFill>
                  <a:srgbClr val="059669"/>
                </a:solidFill>
              </a:defRPr>
            </a:pPr>
            <a:r>
              <a:t>📸 [CHÈN ẢNH EXP50/51 TẠI ĐÂY]</a:t>
            </a:r>
            <a:br/>
            <a:r>
              <a:t>File: poster_headphone_3d_gold.png</a:t>
            </a:r>
            <a:br/>
            <a:r>
              <a:t>(Tai nghe thật + Tiêu đề vàng dập nổi 3D)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100" b="1">
                <a:solidFill>
                  <a:srgbClr val="0284C7"/>
                </a:solidFill>
                <a:latin typeface="Segoe UI"/>
              </a:defRPr>
            </a:pPr>
            <a:r>
              <a:t>TENDOO AI  |  BẢN CHẤT CƠ CHẾ SOFTMAX</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Segoe UI"/>
              </a:defRPr>
            </a:pPr>
            <a:r>
              <a:t>07 / 10</a:t>
            </a:r>
          </a:p>
        </p:txBody>
      </p:sp>
      <p:sp>
        <p:nvSpPr>
          <p:cNvPr id="5" name="TextBox 4"/>
          <p:cNvSpPr txBox="1"/>
          <p:nvPr/>
        </p:nvSpPr>
        <p:spPr>
          <a:xfrm>
            <a:off x="731520" y="685800"/>
            <a:ext cx="10698480" cy="731520"/>
          </a:xfrm>
          <a:prstGeom prst="rect">
            <a:avLst/>
          </a:prstGeom>
          <a:noFill/>
        </p:spPr>
        <p:txBody>
          <a:bodyPr wrap="square">
            <a:spAutoFit/>
          </a:bodyPr>
          <a:lstStyle/>
          <a:p>
            <a:pPr>
              <a:defRPr sz="2400" b="1">
                <a:solidFill>
                  <a:srgbClr val="0F172A"/>
                </a:solidFill>
                <a:latin typeface="Segoe UI"/>
              </a:defRPr>
            </a:pPr>
            <a:r>
              <a:t>Thách Thức Kỹ Thuật: Trạng Thái Cô Lập (t&lt;=40) vs Cạnh Tranh Đồng Thời</a:t>
            </a:r>
          </a:p>
        </p:txBody>
      </p:sp>
      <p:sp>
        <p:nvSpPr>
          <p:cNvPr id="6" name="Rounded Rectangle 5"/>
          <p:cNvSpPr/>
          <p:nvPr/>
        </p:nvSpPr>
        <p:spPr>
          <a:xfrm>
            <a:off x="731520" y="1645920"/>
            <a:ext cx="52578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20"/>
            <a:ext cx="4800600" cy="3931920"/>
          </a:xfrm>
          <a:prstGeom prst="rect">
            <a:avLst/>
          </a:prstGeom>
          <a:noFill/>
        </p:spPr>
        <p:txBody>
          <a:bodyPr wrap="square">
            <a:spAutoFit/>
          </a:bodyPr>
          <a:lstStyle/>
          <a:p>
            <a:pPr>
              <a:defRPr sz="1400" b="1">
                <a:solidFill>
                  <a:srgbClr val="059669"/>
                </a:solidFill>
              </a:defRPr>
            </a:pPr>
            <a:r>
              <a:t>🟢 TRẠNG THÁI CÔ LẬP (PROBE SUITE 1)</a:t>
            </a:r>
          </a:p>
          <a:p>
            <a:pPr>
              <a:spcBef>
                <a:spcPts val="1000"/>
              </a:spcBef>
              <a:defRPr sz="1200">
                <a:solidFill>
                  <a:srgbClr val="0F172A"/>
                </a:solidFill>
              </a:defRPr>
            </a:pPr>
            <a:r>
              <a:t>• Khi chạy từng kênh đơn lẻ:</a:t>
            </a:r>
            <a:br/>
            <a:r>
              <a:t>  Kênh t=10.0, 20.0, 30.0, 40.0 ĐỀU VẼ CHỮ 3D ĐẸP 100% CHUẨN XÁC.</a:t>
            </a:r>
            <a:br/>
            <a:r>
              <a:t>• Chỉ bắt đầu suy hao góc quay RoPE tại t &gt;= 50.0.</a:t>
            </a:r>
            <a:br/>
            <a:br/>
            <a:r>
              <a:t>👉 Ý nghĩa: Mô hình Base ĐÃ CÓ SẴN năng lực biểu diễn chữ ở dải t &lt;= 40.0!</a:t>
            </a:r>
          </a:p>
        </p:txBody>
      </p:sp>
      <p:sp>
        <p:nvSpPr>
          <p:cNvPr id="8" name="Rounded Rectangle 7"/>
          <p:cNvSpPr/>
          <p:nvPr/>
        </p:nvSpPr>
        <p:spPr>
          <a:xfrm>
            <a:off x="6172200" y="1645920"/>
            <a:ext cx="5257800" cy="4389120"/>
          </a:xfrm>
          <a:prstGeom prst="roundRect">
            <a:avLst/>
          </a:prstGeom>
          <a:solidFill>
            <a:srgbClr val="F0F9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74520"/>
            <a:ext cx="4800600" cy="3931920"/>
          </a:xfrm>
          <a:prstGeom prst="rect">
            <a:avLst/>
          </a:prstGeom>
          <a:noFill/>
        </p:spPr>
        <p:txBody>
          <a:bodyPr wrap="square">
            <a:spAutoFit/>
          </a:bodyPr>
          <a:lstStyle/>
          <a:p>
            <a:pPr>
              <a:defRPr sz="1400" b="1">
                <a:solidFill>
                  <a:srgbClr val="D97706"/>
                </a:solidFill>
              </a:defRPr>
            </a:pPr>
            <a:r>
              <a:t>🔴 TRẠNG THÁI CẠNH TRANH (PROBE SUITE 2)</a:t>
            </a:r>
          </a:p>
          <a:p>
            <a:pPr>
              <a:spcBef>
                <a:spcPts val="1000"/>
              </a:spcBef>
              <a:defRPr sz="1200">
                <a:solidFill>
                  <a:srgbClr val="0F172A"/>
                </a:solidFill>
              </a:defRPr>
            </a:pPr>
            <a:r>
              <a:t>• Khi đưa đồng thời 3-4 Slot:</a:t>
            </a:r>
            <a:br/>
            <a:r>
              <a:t>  Attention Heads bị hiện tượng Tranh chấp &amp; Tràn kênh (Cross-Slot Bleeding) -&gt; Slot giữa bị đè mất.</a:t>
            </a:r>
            <a:br/>
            <a:br/>
            <a:r>
              <a:t>• Ảnh sản phẩm (4096 tokens) luôn thắng thế nhờ Token Mass Dominance.</a:t>
            </a:r>
            <a:br/>
            <a:br/>
            <a:r>
              <a:t>👉 Mục tiêu LoRA Phase 3: Dạy DiT phân luồng Attention độc lập giữa các slot!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100" b="1">
                <a:solidFill>
                  <a:srgbClr val="0284C7"/>
                </a:solidFill>
                <a:latin typeface="Segoe UI"/>
              </a:defRPr>
            </a:pPr>
            <a:r>
              <a:t>TENDOO AI  |  BẰNG CHỨNG THỰC NGHIỆM TRỰC QUAN</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Segoe UI"/>
              </a:defRPr>
            </a:pPr>
            <a:r>
              <a:t>08 / 10</a:t>
            </a:r>
          </a:p>
        </p:txBody>
      </p:sp>
      <p:sp>
        <p:nvSpPr>
          <p:cNvPr id="5" name="TextBox 4"/>
          <p:cNvSpPr txBox="1"/>
          <p:nvPr/>
        </p:nvSpPr>
        <p:spPr>
          <a:xfrm>
            <a:off x="731520" y="685800"/>
            <a:ext cx="10698480" cy="731520"/>
          </a:xfrm>
          <a:prstGeom prst="rect">
            <a:avLst/>
          </a:prstGeom>
          <a:noFill/>
        </p:spPr>
        <p:txBody>
          <a:bodyPr wrap="square">
            <a:spAutoFit/>
          </a:bodyPr>
          <a:lstStyle/>
          <a:p>
            <a:pPr>
              <a:defRPr sz="2400" b="1">
                <a:solidFill>
                  <a:srgbClr val="0F172A"/>
                </a:solidFill>
                <a:latin typeface="Segoe UI"/>
              </a:defRPr>
            </a:pPr>
            <a:r>
              <a:t>Thực Nghiệm Đối Chứng Đa Mô Hình (Fal.ai FLUX 9B vs Gemini 2.0)</a:t>
            </a:r>
          </a:p>
        </p:txBody>
      </p:sp>
      <p:sp>
        <p:nvSpPr>
          <p:cNvPr id="6" name="Rounded Rectangle 5"/>
          <p:cNvSpPr/>
          <p:nvPr/>
        </p:nvSpPr>
        <p:spPr>
          <a:xfrm>
            <a:off x="731520" y="1645920"/>
            <a:ext cx="52578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al_ai_9b_test.png"/>
          <p:cNvPicPr>
            <a:picLocks noChangeAspect="1"/>
          </p:cNvPicPr>
          <p:nvPr/>
        </p:nvPicPr>
        <p:blipFill>
          <a:blip r:embed="rId2"/>
          <a:stretch>
            <a:fillRect/>
          </a:stretch>
        </p:blipFill>
        <p:spPr>
          <a:xfrm>
            <a:off x="914400" y="1828800"/>
            <a:ext cx="4892040" cy="2743200"/>
          </a:xfrm>
          <a:prstGeom prst="rect">
            <a:avLst/>
          </a:prstGeom>
        </p:spPr>
      </p:pic>
      <p:sp>
        <p:nvSpPr>
          <p:cNvPr id="8" name="TextBox 7"/>
          <p:cNvSpPr txBox="1"/>
          <p:nvPr/>
        </p:nvSpPr>
        <p:spPr>
          <a:xfrm>
            <a:off x="914400" y="4663440"/>
            <a:ext cx="4892040" cy="1188720"/>
          </a:xfrm>
          <a:prstGeom prst="rect">
            <a:avLst/>
          </a:prstGeom>
          <a:noFill/>
        </p:spPr>
        <p:txBody>
          <a:bodyPr wrap="square">
            <a:spAutoFit/>
          </a:bodyPr>
          <a:lstStyle/>
          <a:p>
            <a:pPr>
              <a:defRPr sz="1100">
                <a:solidFill>
                  <a:srgbClr val="D97706"/>
                </a:solidFill>
              </a:defRPr>
            </a:pPr>
            <a:r>
              <a:t>⚠️ FLUX.2 KLEIN 9B (ZERO-SHOT): Giữ được t=10 &amp; t=20, nhưng sụp đổ ở t=30 thành chữ rác 'ÔUÔ-DAT!' do bão hòa Attention.</a:t>
            </a:r>
          </a:p>
        </p:txBody>
      </p:sp>
      <p:sp>
        <p:nvSpPr>
          <p:cNvPr id="9" name="Rounded Rectangle 8"/>
          <p:cNvSpPr/>
          <p:nvPr/>
        </p:nvSpPr>
        <p:spPr>
          <a:xfrm>
            <a:off x="6172200" y="1645920"/>
            <a:ext cx="5257800" cy="4389120"/>
          </a:xfrm>
          <a:prstGeom prst="roundRect">
            <a:avLst/>
          </a:prstGeom>
          <a:solidFill>
            <a:srgbClr val="F0F9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emini_teacher_test.jpg"/>
          <p:cNvPicPr>
            <a:picLocks noChangeAspect="1"/>
          </p:cNvPicPr>
          <p:nvPr/>
        </p:nvPicPr>
        <p:blipFill>
          <a:blip r:embed="rId3"/>
          <a:stretch>
            <a:fillRect/>
          </a:stretch>
        </p:blipFill>
        <p:spPr>
          <a:xfrm>
            <a:off x="6355080" y="1828800"/>
            <a:ext cx="4892040" cy="2743200"/>
          </a:xfrm>
          <a:prstGeom prst="rect">
            <a:avLst/>
          </a:prstGeom>
        </p:spPr>
      </p:pic>
      <p:sp>
        <p:nvSpPr>
          <p:cNvPr id="11" name="TextBox 10"/>
          <p:cNvSpPr txBox="1"/>
          <p:nvPr/>
        </p:nvSpPr>
        <p:spPr>
          <a:xfrm>
            <a:off x="6355080" y="4663440"/>
            <a:ext cx="4892040" cy="1188720"/>
          </a:xfrm>
          <a:prstGeom prst="rect">
            <a:avLst/>
          </a:prstGeom>
          <a:noFill/>
        </p:spPr>
        <p:txBody>
          <a:bodyPr wrap="square">
            <a:spAutoFit/>
          </a:bodyPr>
          <a:lstStyle/>
          <a:p>
            <a:pPr>
              <a:defRPr sz="1100">
                <a:solidFill>
                  <a:srgbClr val="059669"/>
                </a:solidFill>
              </a:defRPr>
            </a:pPr>
            <a:r>
              <a:t>✅ GEMINI 2.0 (DISTILLATION TEACHER): CHUẨN XÁC 100% CẢ 3 KHỐI TEXT (Đủ 4 dấu kép khó nhất) + Giữ trọn tai nghe + Bố cục thương mại đỉnh cao!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100" b="1">
                <a:solidFill>
                  <a:srgbClr val="0284C7"/>
                </a:solidFill>
                <a:latin typeface="Segoe UI"/>
              </a:defRPr>
            </a:pPr>
            <a:r>
              <a:t>TENDOO AI  |  CHIẾN LƯỢC CHUYỂN GIAO TRI THỨC</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Segoe UI"/>
              </a:defRPr>
            </a:pPr>
            <a:r>
              <a:t>09 / 10</a:t>
            </a:r>
          </a:p>
        </p:txBody>
      </p:sp>
      <p:sp>
        <p:nvSpPr>
          <p:cNvPr id="5" name="TextBox 4"/>
          <p:cNvSpPr txBox="1"/>
          <p:nvPr/>
        </p:nvSpPr>
        <p:spPr>
          <a:xfrm>
            <a:off x="731520" y="685800"/>
            <a:ext cx="10698480" cy="731520"/>
          </a:xfrm>
          <a:prstGeom prst="rect">
            <a:avLst/>
          </a:prstGeom>
          <a:noFill/>
        </p:spPr>
        <p:txBody>
          <a:bodyPr wrap="square">
            <a:spAutoFit/>
          </a:bodyPr>
          <a:lstStyle/>
          <a:p>
            <a:pPr>
              <a:defRPr sz="2400" b="1">
                <a:solidFill>
                  <a:srgbClr val="0F172A"/>
                </a:solidFill>
                <a:latin typeface="Segoe UI"/>
              </a:defRPr>
            </a:pPr>
            <a:r>
              <a:t>Chiến Lược Huấn Luyện LoRA DiT 4B Base (Phase 3 Master Roadmap)</a:t>
            </a:r>
          </a:p>
        </p:txBody>
      </p:sp>
      <p:sp>
        <p:nvSpPr>
          <p:cNvPr id="6" name="Rounded Rectangle 5"/>
          <p:cNvSpPr/>
          <p:nvPr/>
        </p:nvSpPr>
        <p:spPr>
          <a:xfrm>
            <a:off x="731520" y="1645920"/>
            <a:ext cx="3456432"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90672" cy="4023360"/>
          </a:xfrm>
          <a:prstGeom prst="rect">
            <a:avLst/>
          </a:prstGeom>
          <a:noFill/>
        </p:spPr>
        <p:txBody>
          <a:bodyPr wrap="square">
            <a:spAutoFit/>
          </a:bodyPr>
          <a:lstStyle/>
          <a:p>
            <a:pPr>
              <a:defRPr sz="1400" b="1">
                <a:solidFill>
                  <a:srgbClr val="0F172A"/>
                </a:solidFill>
              </a:defRPr>
            </a:pPr>
            <a:r>
              <a:t>MILESTONE A (600 steps)</a:t>
            </a:r>
          </a:p>
          <a:p>
            <a:pPr>
              <a:spcBef>
                <a:spcPts val="1400"/>
              </a:spcBef>
              <a:defRPr sz="1200">
                <a:solidFill>
                  <a:srgbClr val="0F172A"/>
                </a:solidFill>
              </a:defRPr>
            </a:pPr>
            <a:r>
              <a:t>Hòa Trộn 1 SP + 1 Headline</a:t>
            </a:r>
            <a:br/>
            <a:r>
              <a:t>• 500 mẫu (300 SP + 200 T2I)</a:t>
            </a:r>
            <a:br/>
            <a:r>
              <a:t>• Cân bằng Softmax giữa mỏ neo 4096 tokens và Headline.</a:t>
            </a:r>
            <a:br/>
            <a:r>
              <a:t>• Nghiệm thu: Headline 100%, SP &gt;= 98%.</a:t>
            </a:r>
          </a:p>
        </p:txBody>
      </p:sp>
      <p:sp>
        <p:nvSpPr>
          <p:cNvPr id="8" name="Rounded Rectangle 7"/>
          <p:cNvSpPr/>
          <p:nvPr/>
        </p:nvSpPr>
        <p:spPr>
          <a:xfrm>
            <a:off x="4370832" y="1645920"/>
            <a:ext cx="3456432"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828800"/>
            <a:ext cx="3090672" cy="4023360"/>
          </a:xfrm>
          <a:prstGeom prst="rect">
            <a:avLst/>
          </a:prstGeom>
          <a:noFill/>
        </p:spPr>
        <p:txBody>
          <a:bodyPr wrap="square">
            <a:spAutoFit/>
          </a:bodyPr>
          <a:lstStyle/>
          <a:p>
            <a:pPr>
              <a:defRPr sz="1400" b="1">
                <a:solidFill>
                  <a:srgbClr val="0F172A"/>
                </a:solidFill>
              </a:defRPr>
            </a:pPr>
            <a:r>
              <a:t>MILESTONE B (1,200 steps)</a:t>
            </a:r>
          </a:p>
          <a:p>
            <a:pPr>
              <a:spcBef>
                <a:spcPts val="1400"/>
              </a:spcBef>
              <a:defRPr sz="1200">
                <a:solidFill>
                  <a:srgbClr val="0F172A"/>
                </a:solidFill>
              </a:defRPr>
            </a:pPr>
            <a:r>
              <a:t>Tách Kênh 2 Khối Text</a:t>
            </a:r>
            <a:br/>
            <a:r>
              <a:t>• 1,500 mẫu (900 SP + 600 T2I)</a:t>
            </a:r>
            <a:br/>
            <a:r>
              <a:t>• Kích hoạt phân luồng kênh t=20, triệt tiêu rò rỉ Ref-to-Ref.</a:t>
            </a:r>
            <a:br/>
            <a:r>
              <a:t>• Nghiệm thu: Cả 2 dòng chữ render đúng 100%.</a:t>
            </a:r>
          </a:p>
        </p:txBody>
      </p:sp>
      <p:sp>
        <p:nvSpPr>
          <p:cNvPr id="10" name="Rounded Rectangle 9"/>
          <p:cNvSpPr/>
          <p:nvPr/>
        </p:nvSpPr>
        <p:spPr>
          <a:xfrm>
            <a:off x="8010144" y="1645920"/>
            <a:ext cx="3456432" cy="4389120"/>
          </a:xfrm>
          <a:prstGeom prst="roundRect">
            <a:avLst/>
          </a:prstGeom>
          <a:solidFill>
            <a:srgbClr val="F0F9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4" y="1828800"/>
            <a:ext cx="3090672" cy="4023360"/>
          </a:xfrm>
          <a:prstGeom prst="rect">
            <a:avLst/>
          </a:prstGeom>
          <a:noFill/>
        </p:spPr>
        <p:txBody>
          <a:bodyPr wrap="square">
            <a:spAutoFit/>
          </a:bodyPr>
          <a:lstStyle/>
          <a:p>
            <a:pPr>
              <a:defRPr sz="1400" b="1">
                <a:solidFill>
                  <a:srgbClr val="0284C7"/>
                </a:solidFill>
              </a:defRPr>
            </a:pPr>
            <a:r>
              <a:t>MILESTONE C (2,200 steps)</a:t>
            </a:r>
          </a:p>
          <a:p>
            <a:pPr>
              <a:spcBef>
                <a:spcPts val="1400"/>
              </a:spcBef>
              <a:defRPr sz="1200">
                <a:solidFill>
                  <a:srgbClr val="0F172A"/>
                </a:solidFill>
              </a:defRPr>
            </a:pPr>
            <a:r>
              <a:t>Full 4-5 Slot Production</a:t>
            </a:r>
            <a:br/>
            <a:r>
              <a:t>• 2,500 mẫu toàn diện</a:t>
            </a:r>
            <a:br/>
            <a:r>
              <a:t>• Khóa cứng Attention 3-4 khối text (gồm Tier Cực Hạn 5-slot).</a:t>
            </a:r>
            <a:br/>
            <a:r>
              <a:t>• Nghiệm thu: Benchmark đạt &gt;= 95% tổng thể.</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100" b="1">
                <a:solidFill>
                  <a:srgbClr val="0284C7"/>
                </a:solidFill>
                <a:latin typeface="Segoe UI"/>
              </a:defRPr>
            </a:pPr>
            <a:r>
              <a:t>TENDOO AI  |  ĐỀ XUẤT PHÊ DUYỆT &amp; KẾ HOẠCH</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Segoe UI"/>
              </a:defRPr>
            </a:pPr>
            <a:r>
              <a:t>10 / 10</a:t>
            </a:r>
          </a:p>
        </p:txBody>
      </p:sp>
      <p:sp>
        <p:nvSpPr>
          <p:cNvPr id="5" name="TextBox 4"/>
          <p:cNvSpPr txBox="1"/>
          <p:nvPr/>
        </p:nvSpPr>
        <p:spPr>
          <a:xfrm>
            <a:off x="731520" y="685800"/>
            <a:ext cx="10698480" cy="731520"/>
          </a:xfrm>
          <a:prstGeom prst="rect">
            <a:avLst/>
          </a:prstGeom>
          <a:noFill/>
        </p:spPr>
        <p:txBody>
          <a:bodyPr wrap="square">
            <a:spAutoFit/>
          </a:bodyPr>
          <a:lstStyle/>
          <a:p>
            <a:pPr>
              <a:defRPr sz="2400" b="1">
                <a:solidFill>
                  <a:srgbClr val="0F172A"/>
                </a:solidFill>
                <a:latin typeface="Segoe UI"/>
              </a:defRPr>
            </a:pPr>
            <a:r>
              <a:t>Dự Toán Ngân Sách Siêu Tiết Kiệm &amp; Kế Hoạch Hoàn Thành 3 Ngày</a:t>
            </a:r>
          </a:p>
        </p:txBody>
      </p:sp>
      <p:sp>
        <p:nvSpPr>
          <p:cNvPr id="6" name="Rounded Rectangle 5"/>
          <p:cNvSpPr/>
          <p:nvPr/>
        </p:nvSpPr>
        <p:spPr>
          <a:xfrm>
            <a:off x="731520" y="1645920"/>
            <a:ext cx="52578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20"/>
            <a:ext cx="4800600" cy="3931920"/>
          </a:xfrm>
          <a:prstGeom prst="rect">
            <a:avLst/>
          </a:prstGeom>
          <a:noFill/>
        </p:spPr>
        <p:txBody>
          <a:bodyPr wrap="square">
            <a:spAutoFit/>
          </a:bodyPr>
          <a:lstStyle/>
          <a:p>
            <a:pPr>
              <a:defRPr sz="1500" b="1">
                <a:solidFill>
                  <a:srgbClr val="D97706"/>
                </a:solidFill>
              </a:defRPr>
            </a:pPr>
            <a:r>
              <a:t>💰 DỰ TOÁN KINH PHÍ API (SIÊU RẺ)</a:t>
            </a:r>
          </a:p>
          <a:p>
            <a:pPr>
              <a:spcBef>
                <a:spcPts val="1000"/>
              </a:spcBef>
              <a:defRPr sz="1100">
                <a:solidFill>
                  <a:srgbClr val="0F172A"/>
                </a:solidFill>
              </a:defRPr>
            </a:pPr>
            <a:r>
              <a:t>• Gói Pilot Milestone A (500 mẫu): $15 (~370.000 VNĐ)</a:t>
            </a:r>
            <a:br/>
            <a:r>
              <a:t>• Gói Toàn Diện Phase 3 (2,500 mẫu): $75 (~1.800.000 VNĐ)</a:t>
            </a:r>
            <a:br/>
            <a:r>
              <a:t>• Phương án Free Credits: Tận dụng $300 Google Cloud tặng sẵn -&gt; Chi phí thực tế = 0 VNĐ!</a:t>
            </a:r>
            <a:br/>
            <a:br/>
            <a:r>
              <a:t>💎 HIỆU QUẢ ĐẦU TƯ (ROI):</a:t>
            </a:r>
            <a:br/>
            <a:r>
              <a:t>• Sở hữu Model AI độc quyền chạy vĩnh viễn trên 2x GPU A30.</a:t>
            </a:r>
            <a:br/>
            <a:r>
              <a:t>• Tốc độ sinh banner: 1.5 giây / ảnh.</a:t>
            </a:r>
            <a:br/>
            <a:r>
              <a:t>• Tiết kiệm hàng trăm triệu tiền API hàng tháng khi thương mại hóa!</a:t>
            </a:r>
          </a:p>
        </p:txBody>
      </p:sp>
      <p:sp>
        <p:nvSpPr>
          <p:cNvPr id="8" name="Rounded Rectangle 7"/>
          <p:cNvSpPr/>
          <p:nvPr/>
        </p:nvSpPr>
        <p:spPr>
          <a:xfrm>
            <a:off x="6172200" y="1645920"/>
            <a:ext cx="5257800" cy="4389120"/>
          </a:xfrm>
          <a:prstGeom prst="roundRect">
            <a:avLst/>
          </a:prstGeom>
          <a:solidFill>
            <a:srgbClr val="F0F9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74520"/>
            <a:ext cx="4800600" cy="3931920"/>
          </a:xfrm>
          <a:prstGeom prst="rect">
            <a:avLst/>
          </a:prstGeom>
          <a:noFill/>
        </p:spPr>
        <p:txBody>
          <a:bodyPr wrap="square">
            <a:spAutoFit/>
          </a:bodyPr>
          <a:lstStyle/>
          <a:p>
            <a:pPr>
              <a:defRPr sz="1500" b="1">
                <a:solidFill>
                  <a:srgbClr val="059669"/>
                </a:solidFill>
              </a:defRPr>
            </a:pPr>
            <a:r>
              <a:t>🚀 KẾ HOẠCH HÀNH ĐỘNG 3 NGÀY TỚI</a:t>
            </a:r>
          </a:p>
          <a:p>
            <a:pPr>
              <a:spcBef>
                <a:spcPts val="1000"/>
              </a:spcBef>
              <a:defRPr sz="1100">
                <a:solidFill>
                  <a:srgbClr val="0F172A"/>
                </a:solidFill>
              </a:defRPr>
            </a:pPr>
            <a:r>
              <a:t>• NGÀY 1: Cấp Key -&gt; Chạy `generate_distilled_dataset.py` sinh 500 mẫu Pilot -&gt; QA OCR &gt;= 98%.</a:t>
            </a:r>
            <a:br/>
            <a:br/>
            <a:r>
              <a:t>• NGÀY 2: Huấn luyện Milestone A &amp; B trên 2x A30 -&gt; Đánh giá 8 Golden Test Cases.</a:t>
            </a:r>
            <a:br/>
            <a:br/>
            <a:r>
              <a:t>• NGÀY 3: Huấn luyện hoàn tất Milestone C -&gt; Đóng gói Inference Pipeline End-to-End.</a:t>
            </a:r>
            <a:br/>
            <a:br/>
            <a:r>
              <a:t>👉 KIẾN NGHỊ: Phê duyệt cấp API Key Gemini để bấm máy khởi động dự án ngay hôm nay!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