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7" r:id="rId8"/>
    <p:sldId id="268" r:id="rId9"/>
    <p:sldId id="269" r:id="rId10"/>
    <p:sldId id="270" r:id="rId11"/>
    <p:sldId id="263" r:id="rId12"/>
    <p:sldId id="264" r:id="rId13"/>
    <p:sldId id="265" r:id="rId14"/>
    <p:sldId id="266"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7" d="100"/>
          <a:sy n="107" d="100"/>
        </p:scale>
        <p:origin x="152" y="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 Id="rId4" Type="http://schemas.openxmlformats.org/officeDocument/2006/relationships/image" Target="../media/image11.jpe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097280"/>
            <a:ext cx="10698480" cy="1431161"/>
          </a:xfrm>
          <a:prstGeom prst="rect">
            <a:avLst/>
          </a:prstGeom>
          <a:noFill/>
        </p:spPr>
        <p:txBody>
          <a:bodyPr wrap="square">
            <a:spAutoFit/>
          </a:bodyPr>
          <a:lstStyle/>
          <a:p>
            <a:pPr>
              <a:defRPr sz="1300" b="1">
                <a:solidFill>
                  <a:srgbClr val="0284C7"/>
                </a:solidFill>
                <a:latin typeface="Segoe UI"/>
              </a:defRPr>
            </a:pPr>
            <a:r>
              <a:rPr dirty="0"/>
              <a:t>TENDOO AI — VIETTEL TELECOM</a:t>
            </a:r>
          </a:p>
          <a:p>
            <a:pPr>
              <a:spcBef>
                <a:spcPts val="1200"/>
              </a:spcBef>
              <a:defRPr sz="3200" b="1">
                <a:solidFill>
                  <a:srgbClr val="0F172A"/>
                </a:solidFill>
                <a:latin typeface="Segoe UI"/>
              </a:defRPr>
            </a:pPr>
            <a:r>
              <a:rPr lang="en-US" dirty="0" err="1"/>
              <a:t>Sinh</a:t>
            </a:r>
            <a:r>
              <a:rPr lang="en-US" dirty="0"/>
              <a:t> </a:t>
            </a:r>
            <a:r>
              <a:rPr lang="en-US" dirty="0" err="1"/>
              <a:t>ảnh</a:t>
            </a:r>
            <a:r>
              <a:rPr lang="en-US" dirty="0"/>
              <a:t> </a:t>
            </a:r>
            <a:r>
              <a:rPr lang="en-US" dirty="0" err="1"/>
              <a:t>có</a:t>
            </a:r>
            <a:r>
              <a:rPr lang="en-US" dirty="0"/>
              <a:t> </a:t>
            </a:r>
            <a:r>
              <a:rPr lang="en-US" dirty="0" err="1"/>
              <a:t>các</a:t>
            </a:r>
            <a:r>
              <a:rPr dirty="0"/>
              <a:t> </a:t>
            </a:r>
            <a:r>
              <a:rPr lang="en-US" dirty="0" err="1"/>
              <a:t>k</a:t>
            </a:r>
            <a:r>
              <a:rPr dirty="0" err="1"/>
              <a:t>hối</a:t>
            </a:r>
            <a:r>
              <a:rPr dirty="0"/>
              <a:t> </a:t>
            </a:r>
            <a:r>
              <a:rPr lang="en-US" dirty="0" err="1"/>
              <a:t>c</a:t>
            </a:r>
            <a:r>
              <a:rPr dirty="0" err="1"/>
              <a:t>hữ</a:t>
            </a:r>
            <a:r>
              <a:rPr dirty="0"/>
              <a:t> </a:t>
            </a:r>
            <a:r>
              <a:rPr dirty="0" err="1"/>
              <a:t>Tiếng</a:t>
            </a:r>
            <a:r>
              <a:rPr dirty="0"/>
              <a:t> </a:t>
            </a:r>
            <a:r>
              <a:rPr dirty="0" err="1"/>
              <a:t>Việt</a:t>
            </a:r>
            <a:r>
              <a:rPr dirty="0"/>
              <a:t> </a:t>
            </a:r>
            <a:r>
              <a:rPr dirty="0" err="1"/>
              <a:t>Trên</a:t>
            </a:r>
            <a:r>
              <a:rPr dirty="0"/>
              <a:t> FLUX.2 Klein 4B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KIẾN TRÚC HỆ THỐNG</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02 / 11</a:t>
            </a:r>
          </a:p>
        </p:txBody>
      </p:sp>
      <p:sp>
        <p:nvSpPr>
          <p:cNvPr id="5" name="TextBox 4"/>
          <p:cNvSpPr txBox="1"/>
          <p:nvPr/>
        </p:nvSpPr>
        <p:spPr>
          <a:xfrm>
            <a:off x="731520" y="685800"/>
            <a:ext cx="10698480" cy="446276"/>
          </a:xfrm>
          <a:prstGeom prst="rect">
            <a:avLst/>
          </a:prstGeom>
          <a:noFill/>
        </p:spPr>
        <p:txBody>
          <a:bodyPr wrap="square">
            <a:spAutoFit/>
          </a:bodyPr>
          <a:lstStyle/>
          <a:p>
            <a:pPr>
              <a:defRPr sz="2300" b="1">
                <a:solidFill>
                  <a:srgbClr val="0F172A"/>
                </a:solidFill>
                <a:latin typeface="Segoe UI"/>
              </a:defRPr>
            </a:pPr>
            <a:r>
              <a:rPr dirty="0" err="1"/>
              <a:t>Cấu</a:t>
            </a:r>
            <a:r>
              <a:rPr dirty="0"/>
              <a:t> </a:t>
            </a:r>
            <a:r>
              <a:rPr dirty="0" err="1"/>
              <a:t>Trúc</a:t>
            </a:r>
            <a:r>
              <a:rPr dirty="0"/>
              <a:t> FLUX.2 Klein 4B Base</a:t>
            </a:r>
          </a:p>
        </p:txBody>
      </p:sp>
      <p:sp>
        <p:nvSpPr>
          <p:cNvPr id="6" name="Rounded Rectangle 5"/>
          <p:cNvSpPr/>
          <p:nvPr/>
        </p:nvSpPr>
        <p:spPr>
          <a:xfrm>
            <a:off x="731520"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828800"/>
            <a:ext cx="3090672" cy="2723823"/>
          </a:xfrm>
          <a:prstGeom prst="rect">
            <a:avLst/>
          </a:prstGeom>
          <a:noFill/>
        </p:spPr>
        <p:txBody>
          <a:bodyPr wrap="square">
            <a:spAutoFit/>
          </a:bodyPr>
          <a:lstStyle/>
          <a:p>
            <a:pPr>
              <a:defRPr sz="1400" b="1">
                <a:solidFill>
                  <a:srgbClr val="7C3AED"/>
                </a:solidFill>
                <a:latin typeface="Segoe UI"/>
              </a:defRPr>
            </a:pPr>
            <a:r>
              <a:rPr dirty="0"/>
              <a:t>1. TEXT ENCODER (Qwen3-4B-FP8)</a:t>
            </a:r>
          </a:p>
          <a:p>
            <a:pPr>
              <a:spcBef>
                <a:spcPts val="1400"/>
              </a:spcBef>
              <a:defRPr sz="1200">
                <a:solidFill>
                  <a:srgbClr val="0F172A"/>
                </a:solidFill>
                <a:latin typeface="Segoe UI"/>
              </a:defRPr>
            </a:pPr>
            <a:r>
              <a:rPr dirty="0" err="1"/>
              <a:t>Trích</a:t>
            </a:r>
            <a:r>
              <a:rPr dirty="0"/>
              <a:t> </a:t>
            </a:r>
            <a:r>
              <a:rPr dirty="0" err="1"/>
              <a:t>xuất</a:t>
            </a:r>
            <a:r>
              <a:rPr dirty="0"/>
              <a:t> 3 </a:t>
            </a:r>
            <a:r>
              <a:rPr dirty="0" err="1"/>
              <a:t>tầng</a:t>
            </a:r>
            <a:r>
              <a:rPr dirty="0"/>
              <a:t> </a:t>
            </a:r>
            <a:r>
              <a:rPr dirty="0" err="1"/>
              <a:t>cố</a:t>
            </a:r>
            <a:r>
              <a:rPr dirty="0"/>
              <a:t> </a:t>
            </a:r>
            <a:r>
              <a:rPr dirty="0" err="1"/>
              <a:t>định</a:t>
            </a:r>
            <a:r>
              <a:rPr dirty="0"/>
              <a:t> [9, 18, 27] </a:t>
            </a:r>
            <a:r>
              <a:rPr dirty="0" err="1"/>
              <a:t>tạo</a:t>
            </a:r>
            <a:r>
              <a:rPr dirty="0"/>
              <a:t> Context Vector 7680-dim.</a:t>
            </a:r>
            <a:br>
              <a:rPr dirty="0"/>
            </a:br>
            <a:r>
              <a:rPr dirty="0"/>
              <a:t>• </a:t>
            </a:r>
            <a:r>
              <a:rPr dirty="0" err="1"/>
              <a:t>Đảm</a:t>
            </a:r>
            <a:r>
              <a:rPr dirty="0"/>
              <a:t> </a:t>
            </a:r>
            <a:r>
              <a:rPr dirty="0" err="1"/>
              <a:t>nhận</a:t>
            </a:r>
            <a:r>
              <a:rPr dirty="0"/>
              <a:t>: 100% </a:t>
            </a:r>
            <a:r>
              <a:rPr dirty="0" err="1"/>
              <a:t>về</a:t>
            </a:r>
            <a:r>
              <a:rPr dirty="0"/>
              <a:t> CHẤT LIỆU, ÁNH SÁNG, PHONG CÁCH QUANG HỌC.</a:t>
            </a:r>
            <a:br>
              <a:rPr dirty="0"/>
            </a:br>
            <a:r>
              <a:rPr dirty="0"/>
              <a:t>• </a:t>
            </a:r>
            <a:r>
              <a:rPr dirty="0" err="1"/>
              <a:t>Điểm</a:t>
            </a:r>
            <a:r>
              <a:rPr dirty="0"/>
              <a:t> </a:t>
            </a:r>
            <a:r>
              <a:rPr dirty="0" err="1"/>
              <a:t>yếu</a:t>
            </a:r>
            <a:r>
              <a:rPr dirty="0"/>
              <a:t>: </a:t>
            </a:r>
            <a:r>
              <a:rPr dirty="0" err="1"/>
              <a:t>Không</a:t>
            </a:r>
            <a:r>
              <a:rPr dirty="0"/>
              <a:t> </a:t>
            </a:r>
            <a:r>
              <a:rPr dirty="0" err="1"/>
              <a:t>hiểu</a:t>
            </a:r>
            <a:r>
              <a:rPr dirty="0"/>
              <a:t> </a:t>
            </a:r>
            <a:r>
              <a:rPr dirty="0" err="1"/>
              <a:t>hình</a:t>
            </a:r>
            <a:r>
              <a:rPr dirty="0"/>
              <a:t> </a:t>
            </a:r>
            <a:r>
              <a:rPr dirty="0" err="1"/>
              <a:t>học</a:t>
            </a:r>
            <a:r>
              <a:rPr dirty="0"/>
              <a:t> </a:t>
            </a:r>
            <a:r>
              <a:rPr dirty="0" err="1"/>
              <a:t>nét</a:t>
            </a:r>
            <a:r>
              <a:rPr dirty="0"/>
              <a:t> </a:t>
            </a:r>
            <a:r>
              <a:rPr dirty="0" err="1"/>
              <a:t>chữ</a:t>
            </a:r>
            <a:r>
              <a:rPr dirty="0"/>
              <a:t> 2D </a:t>
            </a:r>
            <a:r>
              <a:rPr dirty="0" err="1"/>
              <a:t>tiếng</a:t>
            </a:r>
            <a:r>
              <a:rPr dirty="0"/>
              <a:t> </a:t>
            </a:r>
            <a:r>
              <a:rPr dirty="0" err="1"/>
              <a:t>Việt</a:t>
            </a:r>
            <a:r>
              <a:rPr dirty="0"/>
              <a:t>.</a:t>
            </a:r>
            <a:endParaRPr lang="en-US" dirty="0"/>
          </a:p>
          <a:p>
            <a:pPr>
              <a:spcBef>
                <a:spcPts val="1400"/>
              </a:spcBef>
              <a:defRPr sz="1200">
                <a:solidFill>
                  <a:srgbClr val="0F172A"/>
                </a:solidFill>
                <a:latin typeface="Segoe UI"/>
              </a:defRPr>
            </a:pPr>
            <a:r>
              <a:rPr lang="en-US" dirty="0" err="1"/>
              <a:t>Nhiệm</a:t>
            </a:r>
            <a:r>
              <a:rPr lang="en-US" dirty="0"/>
              <a:t> </a:t>
            </a:r>
            <a:r>
              <a:rPr lang="en-US" dirty="0" err="1"/>
              <a:t>vụ</a:t>
            </a:r>
            <a:r>
              <a:rPr lang="en-US" dirty="0"/>
              <a:t>: </a:t>
            </a:r>
            <a:r>
              <a:rPr lang="en-US" dirty="0" err="1"/>
              <a:t>Băm</a:t>
            </a:r>
            <a:r>
              <a:rPr lang="en-US" dirty="0"/>
              <a:t> prompt </a:t>
            </a:r>
            <a:r>
              <a:rPr lang="en-US" dirty="0" err="1"/>
              <a:t>thành</a:t>
            </a:r>
            <a:r>
              <a:rPr lang="en-US" dirty="0"/>
              <a:t> vector </a:t>
            </a:r>
            <a:r>
              <a:rPr lang="en-US" dirty="0" err="1"/>
              <a:t>ngữ</a:t>
            </a:r>
            <a:r>
              <a:rPr lang="en-US" dirty="0"/>
              <a:t> </a:t>
            </a:r>
            <a:r>
              <a:rPr lang="en-US" dirty="0" err="1"/>
              <a:t>nghĩa</a:t>
            </a:r>
            <a:endParaRPr lang="en-US" dirty="0"/>
          </a:p>
          <a:p>
            <a:pPr>
              <a:spcBef>
                <a:spcPts val="1400"/>
              </a:spcBef>
              <a:defRPr sz="1200">
                <a:solidFill>
                  <a:srgbClr val="0F172A"/>
                </a:solidFill>
                <a:latin typeface="Segoe UI"/>
              </a:defRPr>
            </a:pPr>
            <a:endParaRPr dirty="0"/>
          </a:p>
        </p:txBody>
      </p:sp>
      <p:sp>
        <p:nvSpPr>
          <p:cNvPr id="8" name="Rounded Rectangle 7"/>
          <p:cNvSpPr/>
          <p:nvPr/>
        </p:nvSpPr>
        <p:spPr>
          <a:xfrm>
            <a:off x="4370832"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53712" y="1828800"/>
            <a:ext cx="3090672" cy="2144177"/>
          </a:xfrm>
          <a:prstGeom prst="rect">
            <a:avLst/>
          </a:prstGeom>
          <a:noFill/>
        </p:spPr>
        <p:txBody>
          <a:bodyPr wrap="square">
            <a:spAutoFit/>
          </a:bodyPr>
          <a:lstStyle/>
          <a:p>
            <a:pPr>
              <a:defRPr sz="1400" b="1">
                <a:solidFill>
                  <a:srgbClr val="0284C7"/>
                </a:solidFill>
                <a:latin typeface="Segoe UI"/>
              </a:defRPr>
            </a:pPr>
            <a:r>
              <a:rPr dirty="0"/>
              <a:t>2. DIT 4B (FLUX.2 Transformer)</a:t>
            </a:r>
          </a:p>
          <a:p>
            <a:pPr>
              <a:spcBef>
                <a:spcPts val="1400"/>
              </a:spcBef>
              <a:defRPr sz="1200">
                <a:solidFill>
                  <a:srgbClr val="0F172A"/>
                </a:solidFill>
                <a:latin typeface="Segoe UI"/>
              </a:defRPr>
            </a:pPr>
            <a:r>
              <a:rPr dirty="0"/>
              <a:t>5 </a:t>
            </a:r>
            <a:r>
              <a:rPr dirty="0" err="1"/>
              <a:t>DoubleStreamBlocks</a:t>
            </a:r>
            <a:r>
              <a:rPr dirty="0"/>
              <a:t> + 20 </a:t>
            </a:r>
            <a:r>
              <a:rPr dirty="0" err="1"/>
              <a:t>SingleStreamBlocks</a:t>
            </a:r>
            <a:r>
              <a:rPr dirty="0"/>
              <a:t> (</a:t>
            </a:r>
            <a:r>
              <a:rPr dirty="0" err="1"/>
              <a:t>d_model</a:t>
            </a:r>
            <a:r>
              <a:rPr dirty="0"/>
              <a:t>=3072).</a:t>
            </a:r>
            <a:br>
              <a:rPr dirty="0"/>
            </a:br>
            <a:r>
              <a:rPr dirty="0"/>
              <a:t>• </a:t>
            </a:r>
            <a:r>
              <a:rPr dirty="0" err="1"/>
              <a:t>Đảm</a:t>
            </a:r>
            <a:r>
              <a:rPr dirty="0"/>
              <a:t> </a:t>
            </a:r>
            <a:r>
              <a:rPr dirty="0" err="1"/>
              <a:t>nhận</a:t>
            </a:r>
            <a:r>
              <a:rPr dirty="0"/>
              <a:t>: </a:t>
            </a:r>
            <a:r>
              <a:rPr dirty="0" err="1"/>
              <a:t>Hòa</a:t>
            </a:r>
            <a:r>
              <a:rPr dirty="0"/>
              <a:t> </a:t>
            </a:r>
            <a:r>
              <a:rPr dirty="0" err="1"/>
              <a:t>trộn</a:t>
            </a:r>
            <a:r>
              <a:rPr dirty="0"/>
              <a:t> </a:t>
            </a:r>
            <a:r>
              <a:rPr dirty="0" err="1"/>
              <a:t>đa</a:t>
            </a:r>
            <a:r>
              <a:rPr dirty="0"/>
              <a:t> </a:t>
            </a:r>
            <a:r>
              <a:rPr dirty="0" err="1"/>
              <a:t>phương</a:t>
            </a:r>
            <a:r>
              <a:rPr dirty="0"/>
              <a:t> </a:t>
            </a:r>
            <a:r>
              <a:rPr dirty="0" err="1"/>
              <a:t>thức</a:t>
            </a:r>
            <a:r>
              <a:rPr dirty="0"/>
              <a:t> qua </a:t>
            </a:r>
            <a:r>
              <a:rPr dirty="0" err="1"/>
              <a:t>không</a:t>
            </a:r>
            <a:r>
              <a:rPr dirty="0"/>
              <a:t> </a:t>
            </a:r>
            <a:r>
              <a:rPr dirty="0" err="1"/>
              <a:t>gian</a:t>
            </a:r>
            <a:r>
              <a:rPr dirty="0"/>
              <a:t> 4D </a:t>
            </a:r>
            <a:r>
              <a:rPr dirty="0" err="1"/>
              <a:t>RoPE</a:t>
            </a:r>
            <a:r>
              <a:rPr dirty="0"/>
              <a:t> (t, h, w, l).</a:t>
            </a:r>
            <a:endParaRPr lang="en-US" dirty="0"/>
          </a:p>
          <a:p>
            <a:pPr>
              <a:spcBef>
                <a:spcPts val="1400"/>
              </a:spcBef>
              <a:defRPr sz="1200">
                <a:solidFill>
                  <a:srgbClr val="0F172A"/>
                </a:solidFill>
                <a:latin typeface="Segoe UI"/>
              </a:defRPr>
            </a:pPr>
            <a:r>
              <a:rPr lang="en-US" dirty="0" err="1"/>
              <a:t>Nhiệm</a:t>
            </a:r>
            <a:r>
              <a:rPr lang="en-US" dirty="0"/>
              <a:t> </a:t>
            </a:r>
            <a:r>
              <a:rPr lang="en-US" dirty="0" err="1"/>
              <a:t>vụ</a:t>
            </a:r>
            <a:r>
              <a:rPr lang="en-US" dirty="0"/>
              <a:t>: Attention </a:t>
            </a:r>
            <a:r>
              <a:rPr lang="en-US" dirty="0" err="1"/>
              <a:t>vào</a:t>
            </a:r>
            <a:r>
              <a:rPr lang="en-US" dirty="0"/>
              <a:t> vector </a:t>
            </a:r>
            <a:r>
              <a:rPr lang="en-US" dirty="0" err="1"/>
              <a:t>ngữ</a:t>
            </a:r>
            <a:r>
              <a:rPr lang="en-US" dirty="0"/>
              <a:t> </a:t>
            </a:r>
            <a:r>
              <a:rPr lang="en-US" dirty="0" err="1"/>
              <a:t>nghĩa</a:t>
            </a:r>
            <a:r>
              <a:rPr lang="en-US" dirty="0"/>
              <a:t> </a:t>
            </a:r>
            <a:r>
              <a:rPr lang="en-US" dirty="0" err="1"/>
              <a:t>và</a:t>
            </a:r>
            <a:r>
              <a:rPr lang="en-US" dirty="0"/>
              <a:t> vector </a:t>
            </a:r>
            <a:r>
              <a:rPr lang="en-US" dirty="0" err="1"/>
              <a:t>thị</a:t>
            </a:r>
            <a:r>
              <a:rPr lang="en-US" dirty="0"/>
              <a:t> </a:t>
            </a:r>
            <a:r>
              <a:rPr lang="en-US" dirty="0" err="1"/>
              <a:t>giác</a:t>
            </a:r>
            <a:r>
              <a:rPr lang="en-US" dirty="0"/>
              <a:t> </a:t>
            </a:r>
            <a:r>
              <a:rPr lang="en-US" dirty="0" err="1"/>
              <a:t>để</a:t>
            </a:r>
            <a:r>
              <a:rPr lang="en-US" dirty="0"/>
              <a:t> </a:t>
            </a:r>
            <a:r>
              <a:rPr lang="en-US" dirty="0" err="1"/>
              <a:t>chạy</a:t>
            </a:r>
            <a:r>
              <a:rPr lang="en-US" dirty="0"/>
              <a:t> diffusion </a:t>
            </a:r>
            <a:r>
              <a:rPr lang="en-US" dirty="0" err="1"/>
              <a:t>trong</a:t>
            </a:r>
            <a:r>
              <a:rPr lang="en-US" dirty="0"/>
              <a:t> </a:t>
            </a:r>
            <a:r>
              <a:rPr lang="en-US" dirty="0" err="1"/>
              <a:t>không</a:t>
            </a:r>
            <a:r>
              <a:rPr lang="en-US" dirty="0"/>
              <a:t> </a:t>
            </a:r>
            <a:r>
              <a:rPr lang="en-US" dirty="0" err="1"/>
              <a:t>gian</a:t>
            </a:r>
            <a:r>
              <a:rPr lang="en-US" dirty="0"/>
              <a:t> </a:t>
            </a:r>
            <a:r>
              <a:rPr lang="en-US" dirty="0" err="1"/>
              <a:t>ẩn</a:t>
            </a:r>
            <a:br>
              <a:rPr dirty="0"/>
            </a:br>
            <a:endParaRPr dirty="0"/>
          </a:p>
        </p:txBody>
      </p:sp>
      <p:sp>
        <p:nvSpPr>
          <p:cNvPr id="10" name="Rounded Rectangle 9"/>
          <p:cNvSpPr/>
          <p:nvPr/>
        </p:nvSpPr>
        <p:spPr>
          <a:xfrm>
            <a:off x="8010144"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93024" y="1828800"/>
            <a:ext cx="3090672" cy="3057247"/>
          </a:xfrm>
          <a:prstGeom prst="rect">
            <a:avLst/>
          </a:prstGeom>
          <a:noFill/>
        </p:spPr>
        <p:txBody>
          <a:bodyPr wrap="square">
            <a:spAutoFit/>
          </a:bodyPr>
          <a:lstStyle/>
          <a:p>
            <a:pPr>
              <a:defRPr sz="1400" b="1">
                <a:solidFill>
                  <a:srgbClr val="059669"/>
                </a:solidFill>
                <a:latin typeface="Segoe UI"/>
              </a:defRPr>
            </a:pPr>
            <a:r>
              <a:rPr dirty="0"/>
              <a:t>3. AUTOENCODER (VAE Decoder)</a:t>
            </a:r>
          </a:p>
          <a:p>
            <a:pPr>
              <a:spcBef>
                <a:spcPts val="1400"/>
              </a:spcBef>
              <a:defRPr sz="1200">
                <a:solidFill>
                  <a:srgbClr val="0F172A"/>
                </a:solidFill>
                <a:latin typeface="Segoe UI"/>
              </a:defRPr>
            </a:pPr>
            <a:r>
              <a:rPr dirty="0" err="1"/>
              <a:t>Nén</a:t>
            </a:r>
            <a:r>
              <a:rPr dirty="0"/>
              <a:t> </a:t>
            </a:r>
            <a:r>
              <a:rPr dirty="0" err="1"/>
              <a:t>không</a:t>
            </a:r>
            <a:r>
              <a:rPr dirty="0"/>
              <a:t> </a:t>
            </a:r>
            <a:r>
              <a:rPr dirty="0" err="1"/>
              <a:t>gian</a:t>
            </a:r>
            <a:r>
              <a:rPr dirty="0"/>
              <a:t> 16x </a:t>
            </a:r>
            <a:r>
              <a:rPr dirty="0" err="1"/>
              <a:t>với</a:t>
            </a:r>
            <a:r>
              <a:rPr dirty="0"/>
              <a:t> 128 latent channels.</a:t>
            </a:r>
            <a:br>
              <a:rPr dirty="0"/>
            </a:br>
            <a:r>
              <a:rPr dirty="0"/>
              <a:t>• </a:t>
            </a:r>
            <a:r>
              <a:rPr dirty="0" err="1"/>
              <a:t>Đảm</a:t>
            </a:r>
            <a:r>
              <a:rPr dirty="0"/>
              <a:t> </a:t>
            </a:r>
            <a:r>
              <a:rPr dirty="0" err="1"/>
              <a:t>nhận</a:t>
            </a:r>
            <a:r>
              <a:rPr dirty="0"/>
              <a:t>: 100% </a:t>
            </a:r>
            <a:r>
              <a:rPr dirty="0" err="1"/>
              <a:t>về</a:t>
            </a:r>
            <a:r>
              <a:rPr dirty="0"/>
              <a:t> HÌNH HỌC, FONT CHỮ VÀ CHÍNH TẢ </a:t>
            </a:r>
            <a:r>
              <a:rPr dirty="0" err="1"/>
              <a:t>từ</a:t>
            </a:r>
            <a:r>
              <a:rPr dirty="0"/>
              <a:t> Glyph.</a:t>
            </a:r>
            <a:br>
              <a:rPr dirty="0"/>
            </a:br>
            <a:r>
              <a:rPr dirty="0"/>
              <a:t>• </a:t>
            </a:r>
            <a:r>
              <a:rPr dirty="0" err="1"/>
              <a:t>Điểm</a:t>
            </a:r>
            <a:r>
              <a:rPr dirty="0"/>
              <a:t> an </a:t>
            </a:r>
            <a:r>
              <a:rPr dirty="0" err="1"/>
              <a:t>toàn</a:t>
            </a:r>
            <a:r>
              <a:rPr dirty="0"/>
              <a:t>: </a:t>
            </a:r>
            <a:r>
              <a:rPr dirty="0" err="1"/>
              <a:t>Cỡ</a:t>
            </a:r>
            <a:r>
              <a:rPr dirty="0"/>
              <a:t> </a:t>
            </a:r>
            <a:r>
              <a:rPr dirty="0" err="1"/>
              <a:t>chữ</a:t>
            </a:r>
            <a:r>
              <a:rPr dirty="0"/>
              <a:t> &gt;= 40px </a:t>
            </a:r>
            <a:r>
              <a:rPr dirty="0" err="1"/>
              <a:t>và</a:t>
            </a:r>
            <a:r>
              <a:rPr dirty="0"/>
              <a:t> Box </a:t>
            </a:r>
            <a:r>
              <a:rPr dirty="0" err="1"/>
              <a:t>cao</a:t>
            </a:r>
            <a:r>
              <a:rPr dirty="0"/>
              <a:t> &gt;= 160px </a:t>
            </a:r>
            <a:r>
              <a:rPr dirty="0" err="1"/>
              <a:t>không</a:t>
            </a:r>
            <a:r>
              <a:rPr dirty="0"/>
              <a:t> bao </a:t>
            </a:r>
            <a:r>
              <a:rPr dirty="0" err="1"/>
              <a:t>giờ</a:t>
            </a:r>
            <a:r>
              <a:rPr dirty="0"/>
              <a:t> </a:t>
            </a:r>
            <a:r>
              <a:rPr dirty="0" err="1"/>
              <a:t>mất</a:t>
            </a:r>
            <a:r>
              <a:rPr dirty="0"/>
              <a:t> </a:t>
            </a:r>
            <a:r>
              <a:rPr dirty="0" err="1"/>
              <a:t>dấu</a:t>
            </a:r>
            <a:r>
              <a:rPr dirty="0"/>
              <a:t>!</a:t>
            </a:r>
            <a:endParaRPr lang="en-US" dirty="0"/>
          </a:p>
          <a:p>
            <a:pPr>
              <a:spcBef>
                <a:spcPts val="1400"/>
              </a:spcBef>
              <a:defRPr sz="1200">
                <a:solidFill>
                  <a:srgbClr val="0F172A"/>
                </a:solidFill>
                <a:latin typeface="Segoe UI"/>
              </a:defRPr>
            </a:pPr>
            <a:r>
              <a:rPr lang="en-US" dirty="0" err="1"/>
              <a:t>Nhiệm</a:t>
            </a:r>
            <a:r>
              <a:rPr lang="en-US" dirty="0"/>
              <a:t> </a:t>
            </a:r>
            <a:r>
              <a:rPr lang="en-US" dirty="0" err="1"/>
              <a:t>vụ</a:t>
            </a:r>
            <a:r>
              <a:rPr lang="en-US" dirty="0"/>
              <a:t>: </a:t>
            </a:r>
          </a:p>
          <a:p>
            <a:pPr>
              <a:spcBef>
                <a:spcPts val="1400"/>
              </a:spcBef>
              <a:defRPr sz="1200">
                <a:solidFill>
                  <a:srgbClr val="0F172A"/>
                </a:solidFill>
                <a:latin typeface="Segoe UI"/>
              </a:defRPr>
            </a:pPr>
            <a:r>
              <a:rPr lang="en-US" dirty="0"/>
              <a:t>- Encoder: </a:t>
            </a:r>
            <a:r>
              <a:rPr lang="en-US" dirty="0" err="1"/>
              <a:t>băm</a:t>
            </a:r>
            <a:r>
              <a:rPr lang="en-US" dirty="0"/>
              <a:t> </a:t>
            </a:r>
            <a:r>
              <a:rPr lang="en-US" dirty="0" err="1"/>
              <a:t>ảnh</a:t>
            </a:r>
            <a:r>
              <a:rPr lang="en-US" dirty="0"/>
              <a:t> </a:t>
            </a:r>
            <a:r>
              <a:rPr lang="en-US" dirty="0" err="1"/>
              <a:t>tham</a:t>
            </a:r>
            <a:r>
              <a:rPr lang="en-US" dirty="0"/>
              <a:t> </a:t>
            </a:r>
            <a:r>
              <a:rPr lang="en-US" dirty="0" err="1"/>
              <a:t>chiếu</a:t>
            </a:r>
            <a:r>
              <a:rPr lang="en-US" dirty="0"/>
              <a:t> </a:t>
            </a:r>
            <a:r>
              <a:rPr lang="en-US" dirty="0" err="1"/>
              <a:t>thành</a:t>
            </a:r>
            <a:r>
              <a:rPr lang="en-US" dirty="0"/>
              <a:t> vector </a:t>
            </a:r>
            <a:r>
              <a:rPr lang="en-US" dirty="0" err="1"/>
              <a:t>thị</a:t>
            </a:r>
            <a:r>
              <a:rPr lang="en-US" dirty="0"/>
              <a:t> </a:t>
            </a:r>
            <a:r>
              <a:rPr lang="en-US" dirty="0" err="1"/>
              <a:t>giác</a:t>
            </a:r>
            <a:endParaRPr lang="en-US" dirty="0"/>
          </a:p>
          <a:p>
            <a:pPr>
              <a:spcBef>
                <a:spcPts val="1400"/>
              </a:spcBef>
              <a:defRPr sz="1200">
                <a:solidFill>
                  <a:srgbClr val="0F172A"/>
                </a:solidFill>
                <a:latin typeface="Segoe UI"/>
              </a:defRPr>
            </a:pPr>
            <a:r>
              <a:rPr lang="en-US" dirty="0"/>
              <a:t>- Decoder: </a:t>
            </a:r>
            <a:r>
              <a:rPr lang="en-US" dirty="0" err="1"/>
              <a:t>giải</a:t>
            </a:r>
            <a:r>
              <a:rPr lang="en-US" dirty="0"/>
              <a:t> </a:t>
            </a:r>
            <a:r>
              <a:rPr lang="en-US" dirty="0" err="1"/>
              <a:t>mã</a:t>
            </a:r>
            <a:r>
              <a:rPr lang="en-US" dirty="0"/>
              <a:t> </a:t>
            </a:r>
            <a:r>
              <a:rPr lang="en-US" dirty="0" err="1"/>
              <a:t>kết</a:t>
            </a:r>
            <a:r>
              <a:rPr lang="en-US" dirty="0"/>
              <a:t> </a:t>
            </a:r>
            <a:r>
              <a:rPr lang="en-US" dirty="0" err="1"/>
              <a:t>quả</a:t>
            </a:r>
            <a:r>
              <a:rPr lang="en-US" dirty="0"/>
              <a:t> diffusion </a:t>
            </a:r>
            <a:r>
              <a:rPr lang="en-US" dirty="0" err="1"/>
              <a:t>từ</a:t>
            </a:r>
            <a:r>
              <a:rPr lang="en-US" dirty="0"/>
              <a:t> </a:t>
            </a:r>
            <a:r>
              <a:rPr lang="en-US" dirty="0" err="1"/>
              <a:t>không</a:t>
            </a:r>
            <a:r>
              <a:rPr lang="en-US" dirty="0"/>
              <a:t> </a:t>
            </a:r>
            <a:r>
              <a:rPr lang="en-US" dirty="0" err="1"/>
              <a:t>gian</a:t>
            </a:r>
            <a:r>
              <a:rPr lang="en-US" dirty="0"/>
              <a:t> </a:t>
            </a:r>
            <a:r>
              <a:rPr lang="en-US" dirty="0" err="1"/>
              <a:t>ẩn</a:t>
            </a:r>
            <a:r>
              <a:rPr lang="en-US" dirty="0"/>
              <a:t> </a:t>
            </a:r>
            <a:r>
              <a:rPr lang="en-US" dirty="0" err="1"/>
              <a:t>về</a:t>
            </a:r>
            <a:r>
              <a:rPr lang="en-US" dirty="0"/>
              <a:t> </a:t>
            </a:r>
            <a:r>
              <a:rPr lang="en-US" dirty="0" err="1"/>
              <a:t>không</a:t>
            </a:r>
            <a:r>
              <a:rPr lang="en-US" dirty="0"/>
              <a:t> </a:t>
            </a:r>
            <a:r>
              <a:rPr lang="en-US" dirty="0" err="1"/>
              <a:t>gian</a:t>
            </a:r>
            <a:r>
              <a:rPr lang="en-US" dirty="0"/>
              <a:t> </a:t>
            </a:r>
            <a:r>
              <a:rPr lang="en-US" dirty="0" err="1"/>
              <a:t>ảnh</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CƠ CHẾ TOÁN HỌC CỐT LÕI</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03 / 11</a:t>
            </a:r>
          </a:p>
        </p:txBody>
      </p:sp>
      <p:sp>
        <p:nvSpPr>
          <p:cNvPr id="5" name="TextBox 4"/>
          <p:cNvSpPr txBox="1"/>
          <p:nvPr/>
        </p:nvSpPr>
        <p:spPr>
          <a:xfrm>
            <a:off x="731520" y="685800"/>
            <a:ext cx="10698480" cy="731520"/>
          </a:xfrm>
          <a:prstGeom prst="rect">
            <a:avLst/>
          </a:prstGeom>
          <a:noFill/>
        </p:spPr>
        <p:txBody>
          <a:bodyPr wrap="square">
            <a:spAutoFit/>
          </a:bodyPr>
          <a:lstStyle/>
          <a:p>
            <a:pPr>
              <a:defRPr sz="2300" b="1">
                <a:solidFill>
                  <a:srgbClr val="0F172A"/>
                </a:solidFill>
                <a:latin typeface="Segoe UI"/>
              </a:defRPr>
            </a:pPr>
            <a:r>
              <a:t>Giải Mã Hệ Tọa Độ 4D RoPE &amp; Bí Mật Các Mốc Thời Gian (t=10, 20, 30...)</a:t>
            </a:r>
          </a:p>
        </p:txBody>
      </p:sp>
      <p:sp>
        <p:nvSpPr>
          <p:cNvPr id="6" name="Rounded Rectangle 5"/>
          <p:cNvSpPr/>
          <p:nvPr/>
        </p:nvSpPr>
        <p:spPr>
          <a:xfrm>
            <a:off x="731520"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828800"/>
            <a:ext cx="3090672" cy="4023360"/>
          </a:xfrm>
          <a:prstGeom prst="rect">
            <a:avLst/>
          </a:prstGeom>
          <a:noFill/>
        </p:spPr>
        <p:txBody>
          <a:bodyPr wrap="square">
            <a:spAutoFit/>
          </a:bodyPr>
          <a:lstStyle/>
          <a:p>
            <a:pPr>
              <a:defRPr sz="1300" b="1">
                <a:solidFill>
                  <a:srgbClr val="0284C7"/>
                </a:solidFill>
                <a:latin typeface="Segoe UI"/>
              </a:defRPr>
            </a:pPr>
            <a:r>
              <a:t>⏱️ 1. Mốc Thời Gian t=10, 20... Là Gì?</a:t>
            </a:r>
          </a:p>
          <a:p>
            <a:pPr>
              <a:spcBef>
                <a:spcPts val="1000"/>
              </a:spcBef>
              <a:defRPr sz="1100">
                <a:solidFill>
                  <a:srgbClr val="0F172A"/>
                </a:solidFill>
                <a:latin typeface="Segoe UI"/>
              </a:defRPr>
            </a:pPr>
            <a:r>
              <a:t>FLUX.2 sử dụng hệ tọa độ 4 chiều: (t, h, w, l) để định vị từng token trong không gian và thời gian.</a:t>
            </a:r>
            <a:br/>
            <a:br/>
            <a:r>
              <a:t>• Canvas (Ảnh cần sinh): Đặt tại mốc hiện tại t = 0.0, trải rộng từ (0, 0) đến (H, W).</a:t>
            </a:r>
            <a:br/>
            <a:r>
              <a:t>• Ref Image 1 (Headline): Đặt tại mốc t = 10.0, tọa độ (0, 0).</a:t>
            </a:r>
            <a:br/>
            <a:r>
              <a:t>• Ref Image 2 (Subtitle): Đặt tại mốc t = 20.0, tọa độ (0, 0).</a:t>
            </a:r>
            <a:br/>
            <a:r>
              <a:t>• Ref Image 3 (CTA Badge): Đặt tại mốc t = 30.0, tọa độ (0, 0).</a:t>
            </a:r>
            <a:br/>
            <a:r>
              <a:t>• Ref Image 4 (Ảnh Sản Phẩm): Đặt tại mốc t = 40.0 hoặc 60.0.</a:t>
            </a:r>
          </a:p>
        </p:txBody>
      </p:sp>
      <p:sp>
        <p:nvSpPr>
          <p:cNvPr id="8" name="Rounded Rectangle 7"/>
          <p:cNvSpPr/>
          <p:nvPr/>
        </p:nvSpPr>
        <p:spPr>
          <a:xfrm>
            <a:off x="4370832"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53712" y="1828800"/>
            <a:ext cx="3090672" cy="4023360"/>
          </a:xfrm>
          <a:prstGeom prst="rect">
            <a:avLst/>
          </a:prstGeom>
          <a:noFill/>
        </p:spPr>
        <p:txBody>
          <a:bodyPr wrap="square">
            <a:spAutoFit/>
          </a:bodyPr>
          <a:lstStyle/>
          <a:p>
            <a:pPr>
              <a:defRPr sz="1300" b="1">
                <a:solidFill>
                  <a:srgbClr val="7C3AED"/>
                </a:solidFill>
                <a:latin typeface="Segoe UI"/>
              </a:defRPr>
            </a:pPr>
            <a:r>
              <a:t>🎯 2. Tại Sao Phân Biệt Được Các Ảnh?</a:t>
            </a:r>
          </a:p>
          <a:p>
            <a:pPr>
              <a:spcBef>
                <a:spcPts val="1000"/>
              </a:spcBef>
              <a:defRPr sz="1100">
                <a:solidFill>
                  <a:srgbClr val="0F172A"/>
                </a:solidFill>
                <a:latin typeface="Segoe UI"/>
              </a:defRPr>
            </a:pPr>
            <a:r>
              <a:t>4D RoPE xoay vector truy vấn Q, K theo góc quay tần số: θ_i = 2000^(-2i/32).</a:t>
            </a:r>
            <a:br/>
            <a:br/>
            <a:r>
              <a:t>• Chống nhầm lẫn tọa độ: Dù mọi ảnh Ref đều bắt đầu từ góc (0, 0), mô hình không bao giờ bị đè pixel vì chúng nằm ở các 'khung thời gian t' hoàn toàn khác nhau!</a:t>
            </a:r>
            <a:br/>
            <a:br/>
            <a:r>
              <a:t>• Tính bất biến hoán vị (exp57): Thứ tự nối chuỗi cat() không quan trọng; chính giá trị t=10, 20 trong RoPE mới quyết định vai trò logic của từng ảnh!</a:t>
            </a:r>
          </a:p>
        </p:txBody>
      </p:sp>
      <p:sp>
        <p:nvSpPr>
          <p:cNvPr id="10" name="Rounded Rectangle 9"/>
          <p:cNvSpPr/>
          <p:nvPr/>
        </p:nvSpPr>
        <p:spPr>
          <a:xfrm>
            <a:off x="8010144"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93024" y="1828800"/>
            <a:ext cx="3090672" cy="4023360"/>
          </a:xfrm>
          <a:prstGeom prst="rect">
            <a:avLst/>
          </a:prstGeom>
          <a:noFill/>
        </p:spPr>
        <p:txBody>
          <a:bodyPr wrap="square">
            <a:spAutoFit/>
          </a:bodyPr>
          <a:lstStyle/>
          <a:p>
            <a:pPr>
              <a:defRPr sz="1300" b="1">
                <a:solidFill>
                  <a:srgbClr val="059669"/>
                </a:solidFill>
                <a:latin typeface="Segoe UI"/>
              </a:defRPr>
            </a:pPr>
            <a:r>
              <a:t>🏛️ 3. Thiết Kế Gốc Của BFL &amp; Hạn Chế</a:t>
            </a:r>
          </a:p>
          <a:p>
            <a:pPr>
              <a:spcBef>
                <a:spcPts val="1000"/>
              </a:spcBef>
              <a:defRPr sz="1100">
                <a:solidFill>
                  <a:srgbClr val="0F172A"/>
                </a:solidFill>
                <a:latin typeface="Segoe UI"/>
              </a:defRPr>
            </a:pPr>
            <a:r>
              <a:t>Black Forest Labs (BFL) tiền huấn luyện FLUX.2 với các bước nhảy thời gian rời rạc: Δt = 10 x k (10.0, 20.0, 30.0).</a:t>
            </a:r>
            <a:br/>
            <a:br/>
            <a:r>
              <a:t>• Kênh t=10.0 được tối ưu hóa sâu làm kênh tham chiếu chính.</a:t>
            </a:r>
            <a:br/>
            <a:r>
              <a:t>• Điểm nghẽn gốc: BFL chưa từng huấn luyện DiT đọc nhiều khối Glyph chữ đen trắng cùng lúc -&gt; Dẫn đến bão hòa và tràn kênh Attention ở t=20, 30.</a:t>
            </a:r>
            <a:br/>
            <a:br/>
            <a:r>
              <a:t>👉 Đây chính là lý do Tendoo AI cần LoRA Phase 3 để tinh chỉnh ma trận Attention phân luồng!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NGHIÊN CỨU LÝ THUYẾT &amp; PAPERS</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04 / 11</a:t>
            </a:r>
          </a:p>
        </p:txBody>
      </p:sp>
      <p:sp>
        <p:nvSpPr>
          <p:cNvPr id="5" name="TextBox 4"/>
          <p:cNvSpPr txBox="1"/>
          <p:nvPr/>
        </p:nvSpPr>
        <p:spPr>
          <a:xfrm>
            <a:off x="731520" y="685800"/>
            <a:ext cx="10698480" cy="446276"/>
          </a:xfrm>
          <a:prstGeom prst="rect">
            <a:avLst/>
          </a:prstGeom>
          <a:noFill/>
        </p:spPr>
        <p:txBody>
          <a:bodyPr wrap="square">
            <a:spAutoFit/>
          </a:bodyPr>
          <a:lstStyle/>
          <a:p>
            <a:pPr>
              <a:defRPr sz="2300" b="1">
                <a:solidFill>
                  <a:srgbClr val="0F172A"/>
                </a:solidFill>
                <a:latin typeface="Segoe UI"/>
              </a:defRPr>
            </a:pPr>
            <a:r>
              <a:rPr dirty="0" err="1"/>
              <a:t>Bản</a:t>
            </a:r>
            <a:r>
              <a:rPr dirty="0"/>
              <a:t> </a:t>
            </a:r>
            <a:r>
              <a:rPr dirty="0" err="1"/>
              <a:t>Chất</a:t>
            </a:r>
            <a:r>
              <a:rPr dirty="0"/>
              <a:t>: </a:t>
            </a:r>
            <a:r>
              <a:rPr dirty="0" err="1"/>
              <a:t>Vì</a:t>
            </a:r>
            <a:r>
              <a:rPr dirty="0"/>
              <a:t> Sao </a:t>
            </a:r>
            <a:r>
              <a:rPr lang="en-US" dirty="0" err="1"/>
              <a:t>Các</a:t>
            </a:r>
            <a:r>
              <a:rPr lang="en-US" dirty="0"/>
              <a:t> Model </a:t>
            </a:r>
            <a:r>
              <a:rPr dirty="0" err="1"/>
              <a:t>Không</a:t>
            </a:r>
            <a:r>
              <a:rPr dirty="0"/>
              <a:t> </a:t>
            </a:r>
            <a:r>
              <a:rPr dirty="0" err="1"/>
              <a:t>Thể</a:t>
            </a:r>
            <a:r>
              <a:rPr dirty="0"/>
              <a:t> </a:t>
            </a:r>
            <a:r>
              <a:rPr dirty="0" err="1"/>
              <a:t>Vẽ</a:t>
            </a:r>
            <a:r>
              <a:rPr dirty="0"/>
              <a:t> </a:t>
            </a:r>
            <a:r>
              <a:rPr dirty="0" err="1"/>
              <a:t>Chữ</a:t>
            </a:r>
            <a:r>
              <a:rPr dirty="0"/>
              <a:t> </a:t>
            </a:r>
            <a:r>
              <a:rPr dirty="0" err="1"/>
              <a:t>Tiếng</a:t>
            </a:r>
            <a:r>
              <a:rPr dirty="0"/>
              <a:t> </a:t>
            </a:r>
            <a:r>
              <a:rPr dirty="0" err="1"/>
              <a:t>Việt</a:t>
            </a:r>
            <a:r>
              <a:rPr dirty="0"/>
              <a:t>?</a:t>
            </a:r>
          </a:p>
        </p:txBody>
      </p:sp>
      <p:sp>
        <p:nvSpPr>
          <p:cNvPr id="6" name="Rounded Rectangle 5"/>
          <p:cNvSpPr/>
          <p:nvPr/>
        </p:nvSpPr>
        <p:spPr>
          <a:xfrm>
            <a:off x="731520" y="1645920"/>
            <a:ext cx="525780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874520"/>
            <a:ext cx="4800600" cy="1995418"/>
          </a:xfrm>
          <a:prstGeom prst="rect">
            <a:avLst/>
          </a:prstGeom>
          <a:noFill/>
        </p:spPr>
        <p:txBody>
          <a:bodyPr wrap="square">
            <a:spAutoFit/>
          </a:bodyPr>
          <a:lstStyle/>
          <a:p>
            <a:pPr>
              <a:defRPr sz="1600" b="1">
                <a:solidFill>
                  <a:srgbClr val="D97706"/>
                </a:solidFill>
                <a:latin typeface="Segoe UI"/>
              </a:defRPr>
            </a:pPr>
            <a:r>
              <a:rPr dirty="0"/>
              <a:t>❌ </a:t>
            </a:r>
            <a:r>
              <a:rPr dirty="0" err="1"/>
              <a:t>Điểm</a:t>
            </a:r>
            <a:r>
              <a:rPr dirty="0"/>
              <a:t> </a:t>
            </a:r>
            <a:r>
              <a:rPr dirty="0" err="1"/>
              <a:t>Mù</a:t>
            </a:r>
            <a:r>
              <a:rPr dirty="0"/>
              <a:t> </a:t>
            </a:r>
            <a:r>
              <a:rPr dirty="0" err="1"/>
              <a:t>Không</a:t>
            </a:r>
            <a:r>
              <a:rPr dirty="0"/>
              <a:t> Gian 2D </a:t>
            </a:r>
            <a:r>
              <a:rPr dirty="0" err="1"/>
              <a:t>của</a:t>
            </a:r>
            <a:r>
              <a:rPr dirty="0"/>
              <a:t> LLM</a:t>
            </a:r>
          </a:p>
          <a:p>
            <a:pPr>
              <a:spcBef>
                <a:spcPts val="1400"/>
              </a:spcBef>
              <a:defRPr sz="1200">
                <a:solidFill>
                  <a:srgbClr val="0F172A"/>
                </a:solidFill>
                <a:latin typeface="Segoe UI"/>
              </a:defRPr>
            </a:pPr>
            <a:r>
              <a:rPr dirty="0" err="1"/>
              <a:t>Các</a:t>
            </a:r>
            <a:r>
              <a:rPr dirty="0"/>
              <a:t> LLM </a:t>
            </a:r>
            <a:r>
              <a:rPr dirty="0" err="1"/>
              <a:t>ngôn</a:t>
            </a:r>
            <a:r>
              <a:rPr dirty="0"/>
              <a:t> </a:t>
            </a:r>
            <a:r>
              <a:rPr dirty="0" err="1"/>
              <a:t>ngữ</a:t>
            </a:r>
            <a:r>
              <a:rPr dirty="0"/>
              <a:t> </a:t>
            </a:r>
            <a:r>
              <a:rPr dirty="0" err="1"/>
              <a:t>thuần</a:t>
            </a:r>
            <a:r>
              <a:rPr dirty="0"/>
              <a:t> </a:t>
            </a:r>
            <a:r>
              <a:rPr dirty="0" err="1"/>
              <a:t>túy</a:t>
            </a:r>
            <a:r>
              <a:rPr dirty="0"/>
              <a:t> </a:t>
            </a:r>
            <a:r>
              <a:rPr dirty="0" err="1"/>
              <a:t>như</a:t>
            </a:r>
            <a:r>
              <a:rPr dirty="0"/>
              <a:t> Qwen3 </a:t>
            </a:r>
            <a:r>
              <a:rPr dirty="0" err="1"/>
              <a:t>chỉ</a:t>
            </a:r>
            <a:r>
              <a:rPr dirty="0"/>
              <a:t> </a:t>
            </a:r>
            <a:r>
              <a:rPr dirty="0" err="1"/>
              <a:t>xử</a:t>
            </a:r>
            <a:r>
              <a:rPr dirty="0"/>
              <a:t> </a:t>
            </a:r>
            <a:r>
              <a:rPr dirty="0" err="1"/>
              <a:t>lý</a:t>
            </a:r>
            <a:r>
              <a:rPr dirty="0"/>
              <a:t> </a:t>
            </a:r>
            <a:r>
              <a:rPr lang="en-US" dirty="0" err="1"/>
              <a:t>và</a:t>
            </a:r>
            <a:r>
              <a:rPr lang="en-US" dirty="0"/>
              <a:t> </a:t>
            </a:r>
            <a:r>
              <a:rPr lang="en-US" dirty="0" err="1"/>
              <a:t>hiểu</a:t>
            </a:r>
            <a:r>
              <a:rPr lang="en-US" dirty="0"/>
              <a:t> </a:t>
            </a:r>
            <a:r>
              <a:rPr dirty="0" err="1"/>
              <a:t>ngữ</a:t>
            </a:r>
            <a:r>
              <a:rPr dirty="0"/>
              <a:t> </a:t>
            </a:r>
            <a:r>
              <a:rPr dirty="0" err="1"/>
              <a:t>nghĩa</a:t>
            </a:r>
            <a:r>
              <a:rPr dirty="0"/>
              <a:t>. </a:t>
            </a:r>
            <a:r>
              <a:rPr dirty="0" err="1"/>
              <a:t>Chúng</a:t>
            </a:r>
            <a:r>
              <a:rPr dirty="0"/>
              <a:t> </a:t>
            </a:r>
            <a:r>
              <a:rPr dirty="0" err="1"/>
              <a:t>hoàn</a:t>
            </a:r>
            <a:r>
              <a:rPr dirty="0"/>
              <a:t> </a:t>
            </a:r>
            <a:r>
              <a:rPr dirty="0" err="1"/>
              <a:t>toàn</a:t>
            </a:r>
            <a:r>
              <a:rPr dirty="0"/>
              <a:t> </a:t>
            </a:r>
            <a:r>
              <a:rPr dirty="0" err="1"/>
              <a:t>không</a:t>
            </a:r>
            <a:r>
              <a:rPr dirty="0"/>
              <a:t> </a:t>
            </a:r>
            <a:r>
              <a:rPr lang="en-US" dirty="0" err="1"/>
              <a:t>hiểu</a:t>
            </a:r>
            <a:r>
              <a:rPr lang="en-US" dirty="0"/>
              <a:t> </a:t>
            </a:r>
            <a:r>
              <a:rPr lang="en-US" dirty="0" err="1"/>
              <a:t>thông</a:t>
            </a:r>
            <a:r>
              <a:rPr lang="en-US" dirty="0"/>
              <a:t> tin </a:t>
            </a:r>
            <a:r>
              <a:rPr lang="en-US" dirty="0" err="1"/>
              <a:t>thị</a:t>
            </a:r>
            <a:r>
              <a:rPr lang="en-US" dirty="0"/>
              <a:t> </a:t>
            </a:r>
            <a:r>
              <a:rPr lang="en-US" dirty="0" err="1"/>
              <a:t>giác</a:t>
            </a:r>
            <a:r>
              <a:rPr lang="en-US" dirty="0"/>
              <a:t> </a:t>
            </a:r>
            <a:r>
              <a:rPr dirty="0" err="1"/>
              <a:t>về</a:t>
            </a:r>
            <a:r>
              <a:rPr dirty="0"/>
              <a:t> </a:t>
            </a:r>
            <a:r>
              <a:rPr dirty="0" err="1"/>
              <a:t>nét</a:t>
            </a:r>
            <a:r>
              <a:rPr dirty="0"/>
              <a:t> </a:t>
            </a:r>
            <a:r>
              <a:rPr dirty="0" err="1"/>
              <a:t>bút</a:t>
            </a:r>
            <a:r>
              <a:rPr dirty="0"/>
              <a:t>, </a:t>
            </a:r>
            <a:r>
              <a:rPr dirty="0" err="1"/>
              <a:t>vị</a:t>
            </a:r>
            <a:r>
              <a:rPr dirty="0"/>
              <a:t> </a:t>
            </a:r>
            <a:r>
              <a:rPr dirty="0" err="1"/>
              <a:t>trí</a:t>
            </a:r>
            <a:r>
              <a:rPr dirty="0"/>
              <a:t> </a:t>
            </a:r>
            <a:r>
              <a:rPr dirty="0" err="1"/>
              <a:t>dấu</a:t>
            </a:r>
            <a:r>
              <a:rPr dirty="0"/>
              <a:t> </a:t>
            </a:r>
            <a:r>
              <a:rPr dirty="0" err="1"/>
              <a:t>mũ</a:t>
            </a:r>
            <a:r>
              <a:rPr dirty="0"/>
              <a:t> (Â, Ô), </a:t>
            </a:r>
            <a:r>
              <a:rPr dirty="0" err="1"/>
              <a:t>dấu</a:t>
            </a:r>
            <a:r>
              <a:rPr dirty="0"/>
              <a:t> </a:t>
            </a:r>
            <a:r>
              <a:rPr dirty="0" err="1"/>
              <a:t>móc</a:t>
            </a:r>
            <a:r>
              <a:rPr dirty="0"/>
              <a:t> (Ơ, Ư) hay </a:t>
            </a:r>
            <a:r>
              <a:rPr dirty="0" err="1"/>
              <a:t>thanh</a:t>
            </a:r>
            <a:r>
              <a:rPr dirty="0"/>
              <a:t> </a:t>
            </a:r>
            <a:r>
              <a:rPr dirty="0" err="1"/>
              <a:t>điệu</a:t>
            </a:r>
            <a:r>
              <a:rPr dirty="0"/>
              <a:t> (</a:t>
            </a:r>
            <a:r>
              <a:rPr dirty="0" err="1"/>
              <a:t>Dấu</a:t>
            </a:r>
            <a:r>
              <a:rPr dirty="0"/>
              <a:t> </a:t>
            </a:r>
            <a:r>
              <a:rPr dirty="0" err="1"/>
              <a:t>hỏi</a:t>
            </a:r>
            <a:r>
              <a:rPr dirty="0"/>
              <a:t>, </a:t>
            </a:r>
            <a:r>
              <a:rPr dirty="0" err="1"/>
              <a:t>ngã</a:t>
            </a:r>
            <a:r>
              <a:rPr dirty="0"/>
              <a:t>, </a:t>
            </a:r>
            <a:r>
              <a:rPr dirty="0" err="1"/>
              <a:t>nặng</a:t>
            </a:r>
            <a:r>
              <a:rPr dirty="0"/>
              <a:t>).</a:t>
            </a:r>
            <a:br>
              <a:rPr dirty="0"/>
            </a:br>
            <a:br>
              <a:rPr dirty="0"/>
            </a:br>
            <a:r>
              <a:rPr dirty="0"/>
              <a:t>📌 Minh </a:t>
            </a:r>
            <a:r>
              <a:rPr dirty="0" err="1"/>
              <a:t>chứng</a:t>
            </a:r>
            <a:r>
              <a:rPr dirty="0"/>
              <a:t> </a:t>
            </a:r>
            <a:r>
              <a:rPr dirty="0" err="1"/>
              <a:t>từ</a:t>
            </a:r>
            <a:r>
              <a:rPr dirty="0"/>
              <a:t> BFL: Ở </a:t>
            </a:r>
            <a:r>
              <a:rPr dirty="0" err="1"/>
              <a:t>các</a:t>
            </a:r>
            <a:r>
              <a:rPr dirty="0"/>
              <a:t> </a:t>
            </a:r>
            <a:r>
              <a:rPr dirty="0" err="1"/>
              <a:t>phiên</a:t>
            </a:r>
            <a:r>
              <a:rPr dirty="0"/>
              <a:t> </a:t>
            </a:r>
            <a:r>
              <a:rPr dirty="0" err="1"/>
              <a:t>bản</a:t>
            </a:r>
            <a:r>
              <a:rPr dirty="0"/>
              <a:t> </a:t>
            </a:r>
            <a:r>
              <a:rPr dirty="0" err="1"/>
              <a:t>lớn</a:t>
            </a:r>
            <a:r>
              <a:rPr dirty="0"/>
              <a:t> </a:t>
            </a:r>
            <a:r>
              <a:rPr dirty="0" err="1"/>
              <a:t>hơn</a:t>
            </a:r>
            <a:r>
              <a:rPr dirty="0"/>
              <a:t> (9B / Dev), Black Forest Labs </a:t>
            </a:r>
            <a:r>
              <a:rPr dirty="0" err="1"/>
              <a:t>bắt</a:t>
            </a:r>
            <a:r>
              <a:rPr dirty="0"/>
              <a:t> </a:t>
            </a:r>
            <a:r>
              <a:rPr dirty="0" err="1"/>
              <a:t>buộc</a:t>
            </a:r>
            <a:r>
              <a:rPr dirty="0"/>
              <a:t> </a:t>
            </a:r>
            <a:r>
              <a:rPr dirty="0" err="1"/>
              <a:t>phải</a:t>
            </a:r>
            <a:r>
              <a:rPr dirty="0"/>
              <a:t> </a:t>
            </a:r>
            <a:r>
              <a:rPr dirty="0" err="1"/>
              <a:t>nâng</a:t>
            </a:r>
            <a:r>
              <a:rPr dirty="0"/>
              <a:t> </a:t>
            </a:r>
            <a:r>
              <a:rPr dirty="0" err="1"/>
              <a:t>cấp</a:t>
            </a:r>
            <a:r>
              <a:rPr dirty="0"/>
              <a:t> </a:t>
            </a:r>
            <a:r>
              <a:rPr dirty="0" err="1"/>
              <a:t>lên</a:t>
            </a:r>
            <a:r>
              <a:rPr dirty="0"/>
              <a:t> Vision-Language Model (VLM) </a:t>
            </a:r>
            <a:r>
              <a:rPr dirty="0" err="1"/>
              <a:t>đa</a:t>
            </a:r>
            <a:r>
              <a:rPr dirty="0"/>
              <a:t> </a:t>
            </a:r>
            <a:r>
              <a:rPr dirty="0" err="1"/>
              <a:t>phương</a:t>
            </a:r>
            <a:r>
              <a:rPr dirty="0"/>
              <a:t> </a:t>
            </a:r>
            <a:r>
              <a:rPr dirty="0" err="1"/>
              <a:t>thức</a:t>
            </a:r>
            <a:r>
              <a:rPr dirty="0"/>
              <a:t> </a:t>
            </a:r>
            <a:r>
              <a:rPr dirty="0" err="1"/>
              <a:t>để</a:t>
            </a:r>
            <a:r>
              <a:rPr dirty="0"/>
              <a:t> </a:t>
            </a:r>
            <a:r>
              <a:rPr dirty="0" err="1"/>
              <a:t>bù</a:t>
            </a:r>
            <a:r>
              <a:rPr dirty="0"/>
              <a:t> </a:t>
            </a:r>
            <a:r>
              <a:rPr dirty="0" err="1"/>
              <a:t>đắp</a:t>
            </a:r>
            <a:r>
              <a:rPr dirty="0"/>
              <a:t> </a:t>
            </a:r>
            <a:r>
              <a:rPr dirty="0" err="1"/>
              <a:t>điểm</a:t>
            </a:r>
            <a:r>
              <a:rPr dirty="0"/>
              <a:t> </a:t>
            </a:r>
            <a:r>
              <a:rPr dirty="0" err="1"/>
              <a:t>mù</a:t>
            </a:r>
            <a:r>
              <a:rPr dirty="0"/>
              <a:t> </a:t>
            </a:r>
            <a:r>
              <a:rPr dirty="0" err="1"/>
              <a:t>này</a:t>
            </a:r>
            <a:r>
              <a:rPr dirty="0"/>
              <a:t>!</a:t>
            </a:r>
          </a:p>
        </p:txBody>
      </p:sp>
      <p:sp>
        <p:nvSpPr>
          <p:cNvPr id="8" name="Rounded Rectangle 7"/>
          <p:cNvSpPr/>
          <p:nvPr/>
        </p:nvSpPr>
        <p:spPr>
          <a:xfrm>
            <a:off x="6172200" y="1645920"/>
            <a:ext cx="5257800" cy="4389120"/>
          </a:xfrm>
          <a:prstGeom prst="roundRect">
            <a:avLst/>
          </a:prstGeom>
          <a:solidFill>
            <a:srgbClr val="F0F9FF"/>
          </a:solidFill>
          <a:ln w="1524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0" y="1874520"/>
            <a:ext cx="4800600" cy="2426305"/>
          </a:xfrm>
          <a:prstGeom prst="rect">
            <a:avLst/>
          </a:prstGeom>
          <a:noFill/>
        </p:spPr>
        <p:txBody>
          <a:bodyPr wrap="square">
            <a:spAutoFit/>
          </a:bodyPr>
          <a:lstStyle/>
          <a:p>
            <a:pPr>
              <a:defRPr sz="1600" b="1">
                <a:solidFill>
                  <a:srgbClr val="0284C7"/>
                </a:solidFill>
                <a:latin typeface="Segoe UI"/>
              </a:defRPr>
            </a:pPr>
            <a:r>
              <a:rPr dirty="0"/>
              <a:t>❌ </a:t>
            </a:r>
            <a:r>
              <a:rPr dirty="0" err="1"/>
              <a:t>Hiện</a:t>
            </a:r>
            <a:r>
              <a:rPr dirty="0"/>
              <a:t> </a:t>
            </a:r>
            <a:r>
              <a:rPr dirty="0" err="1"/>
              <a:t>Tượng</a:t>
            </a:r>
            <a:r>
              <a:rPr dirty="0"/>
              <a:t> </a:t>
            </a:r>
            <a:r>
              <a:rPr dirty="0" err="1"/>
              <a:t>Xung</a:t>
            </a:r>
            <a:r>
              <a:rPr dirty="0"/>
              <a:t> </a:t>
            </a:r>
            <a:r>
              <a:rPr dirty="0" err="1"/>
              <a:t>Đột</a:t>
            </a:r>
            <a:r>
              <a:rPr dirty="0"/>
              <a:t> </a:t>
            </a:r>
            <a:r>
              <a:rPr dirty="0" err="1"/>
              <a:t>Biểu</a:t>
            </a:r>
            <a:r>
              <a:rPr dirty="0"/>
              <a:t> </a:t>
            </a:r>
            <a:r>
              <a:rPr dirty="0" err="1"/>
              <a:t>Diễn</a:t>
            </a:r>
            <a:r>
              <a:rPr dirty="0"/>
              <a:t> (Semantic Clash)</a:t>
            </a:r>
          </a:p>
          <a:p>
            <a:pPr>
              <a:spcBef>
                <a:spcPts val="1400"/>
              </a:spcBef>
              <a:defRPr sz="1200">
                <a:solidFill>
                  <a:srgbClr val="0F172A"/>
                </a:solidFill>
                <a:latin typeface="Segoe UI"/>
              </a:defRPr>
            </a:pPr>
            <a:r>
              <a:rPr dirty="0"/>
              <a:t>Khi prompt </a:t>
            </a:r>
            <a:r>
              <a:rPr dirty="0" err="1"/>
              <a:t>người</a:t>
            </a:r>
            <a:r>
              <a:rPr dirty="0"/>
              <a:t> </a:t>
            </a:r>
            <a:r>
              <a:rPr dirty="0" err="1"/>
              <a:t>dùng</a:t>
            </a:r>
            <a:r>
              <a:rPr dirty="0"/>
              <a:t> </a:t>
            </a:r>
            <a:r>
              <a:rPr dirty="0" err="1"/>
              <a:t>ghi</a:t>
            </a:r>
            <a:r>
              <a:rPr dirty="0"/>
              <a:t> </a:t>
            </a:r>
            <a:r>
              <a:rPr dirty="0" err="1"/>
              <a:t>rõ</a:t>
            </a:r>
            <a:r>
              <a:rPr dirty="0"/>
              <a:t> </a:t>
            </a:r>
            <a:r>
              <a:rPr dirty="0" err="1"/>
              <a:t>chữ</a:t>
            </a:r>
            <a:r>
              <a:rPr dirty="0"/>
              <a:t> </a:t>
            </a:r>
            <a:r>
              <a:rPr dirty="0" err="1"/>
              <a:t>tiếng</a:t>
            </a:r>
            <a:r>
              <a:rPr dirty="0"/>
              <a:t> </a:t>
            </a:r>
            <a:r>
              <a:rPr dirty="0" err="1"/>
              <a:t>Việt</a:t>
            </a:r>
            <a:r>
              <a:rPr dirty="0"/>
              <a:t> (</a:t>
            </a:r>
            <a:r>
              <a:rPr dirty="0" err="1"/>
              <a:t>ví</a:t>
            </a:r>
            <a:r>
              <a:rPr dirty="0"/>
              <a:t> </a:t>
            </a:r>
            <a:r>
              <a:rPr dirty="0" err="1"/>
              <a:t>dụ</a:t>
            </a:r>
            <a:r>
              <a:rPr dirty="0"/>
              <a:t>: '</a:t>
            </a:r>
            <a:r>
              <a:rPr dirty="0" err="1"/>
              <a:t>vẽ</a:t>
            </a:r>
            <a:r>
              <a:rPr dirty="0"/>
              <a:t> </a:t>
            </a:r>
            <a:r>
              <a:rPr dirty="0" err="1"/>
              <a:t>chữ</a:t>
            </a:r>
            <a:r>
              <a:rPr dirty="0"/>
              <a:t> ÂM THANH ĐỈNH CAO'), </a:t>
            </a:r>
            <a:r>
              <a:rPr lang="en-US" dirty="0" err="1"/>
              <a:t>DiT</a:t>
            </a:r>
            <a:r>
              <a:rPr dirty="0"/>
              <a:t> </a:t>
            </a:r>
            <a:r>
              <a:rPr dirty="0" err="1"/>
              <a:t>cố</a:t>
            </a:r>
            <a:r>
              <a:rPr dirty="0"/>
              <a:t> </a:t>
            </a:r>
            <a:r>
              <a:rPr dirty="0" err="1"/>
              <a:t>gắng</a:t>
            </a:r>
            <a:r>
              <a:rPr dirty="0"/>
              <a:t> </a:t>
            </a:r>
            <a:r>
              <a:rPr dirty="0" err="1"/>
              <a:t>tự</a:t>
            </a:r>
            <a:r>
              <a:rPr dirty="0"/>
              <a:t> </a:t>
            </a:r>
            <a:r>
              <a:rPr dirty="0" err="1"/>
              <a:t>sinh</a:t>
            </a:r>
            <a:r>
              <a:rPr dirty="0"/>
              <a:t> </a:t>
            </a:r>
            <a:r>
              <a:rPr dirty="0" err="1"/>
              <a:t>chữ</a:t>
            </a:r>
            <a:r>
              <a:rPr dirty="0"/>
              <a:t> </a:t>
            </a:r>
            <a:r>
              <a:rPr lang="en-US" dirty="0"/>
              <a:t>(</a:t>
            </a:r>
            <a:r>
              <a:rPr lang="en-US" dirty="0" err="1"/>
              <a:t>hình</a:t>
            </a:r>
            <a:r>
              <a:rPr lang="en-US" dirty="0"/>
              <a:t> </a:t>
            </a:r>
            <a:r>
              <a:rPr lang="en-US" dirty="0" err="1"/>
              <a:t>học</a:t>
            </a:r>
            <a:r>
              <a:rPr lang="en-US" dirty="0"/>
              <a:t>) </a:t>
            </a:r>
            <a:r>
              <a:rPr dirty="0" err="1"/>
              <a:t>từ</a:t>
            </a:r>
            <a:r>
              <a:rPr dirty="0"/>
              <a:t> </a:t>
            </a:r>
            <a:r>
              <a:rPr lang="en-US" dirty="0"/>
              <a:t>vector </a:t>
            </a:r>
            <a:r>
              <a:rPr lang="en-US" dirty="0" err="1"/>
              <a:t>ngữ</a:t>
            </a:r>
            <a:r>
              <a:rPr lang="en-US" dirty="0"/>
              <a:t> </a:t>
            </a:r>
            <a:r>
              <a:rPr lang="en-US" dirty="0" err="1"/>
              <a:t>nghĩa</a:t>
            </a:r>
            <a:r>
              <a:rPr lang="en-US" dirty="0"/>
              <a:t> </a:t>
            </a:r>
            <a:r>
              <a:rPr lang="en-US" dirty="0" err="1"/>
              <a:t>nên</a:t>
            </a:r>
            <a:r>
              <a:rPr lang="en-US" dirty="0"/>
              <a:t> </a:t>
            </a:r>
            <a:r>
              <a:rPr lang="en-US" dirty="0" err="1"/>
              <a:t>chắc</a:t>
            </a:r>
            <a:r>
              <a:rPr lang="en-US" dirty="0"/>
              <a:t> </a:t>
            </a:r>
            <a:r>
              <a:rPr lang="en-US" dirty="0" err="1"/>
              <a:t>chắn</a:t>
            </a:r>
            <a:r>
              <a:rPr lang="en-US" dirty="0"/>
              <a:t> </a:t>
            </a:r>
            <a:r>
              <a:rPr lang="en-US" dirty="0" err="1"/>
              <a:t>hỏng</a:t>
            </a:r>
            <a:r>
              <a:rPr dirty="0"/>
              <a:t>.</a:t>
            </a:r>
            <a:br>
              <a:rPr dirty="0"/>
            </a:br>
            <a:br>
              <a:rPr dirty="0"/>
            </a:br>
            <a:r>
              <a:rPr lang="en-US" dirty="0" err="1"/>
              <a:t>Nguy</a:t>
            </a:r>
            <a:r>
              <a:rPr lang="en-US" dirty="0"/>
              <a:t> </a:t>
            </a:r>
            <a:r>
              <a:rPr lang="en-US" dirty="0" err="1"/>
              <a:t>cơ</a:t>
            </a:r>
            <a:r>
              <a:rPr lang="en-US" dirty="0"/>
              <a:t> semantic leakage: </a:t>
            </a:r>
            <a:r>
              <a:rPr lang="en-US" dirty="0" err="1"/>
              <a:t>promt</a:t>
            </a:r>
            <a:r>
              <a:rPr lang="en-US" dirty="0"/>
              <a:t> “</a:t>
            </a:r>
            <a:r>
              <a:rPr lang="en-US" dirty="0" err="1"/>
              <a:t>vẽ</a:t>
            </a:r>
            <a:r>
              <a:rPr lang="en-US" dirty="0"/>
              <a:t> </a:t>
            </a:r>
            <a:r>
              <a:rPr lang="en-US" dirty="0" err="1"/>
              <a:t>cái</a:t>
            </a:r>
            <a:r>
              <a:rPr lang="en-US" dirty="0"/>
              <a:t> </a:t>
            </a:r>
            <a:r>
              <a:rPr lang="en-US" dirty="0" err="1"/>
              <a:t>cốc</a:t>
            </a:r>
            <a:r>
              <a:rPr lang="en-US" dirty="0"/>
              <a:t> </a:t>
            </a:r>
            <a:r>
              <a:rPr lang="en-US" dirty="0" err="1"/>
              <a:t>có</a:t>
            </a:r>
            <a:r>
              <a:rPr lang="en-US" dirty="0"/>
              <a:t> </a:t>
            </a:r>
            <a:r>
              <a:rPr lang="en-US" dirty="0" err="1"/>
              <a:t>chữ</a:t>
            </a:r>
            <a:r>
              <a:rPr lang="en-US" dirty="0"/>
              <a:t> CHIẾC XE Ô TÔ”, text encoder </a:t>
            </a:r>
            <a:r>
              <a:rPr lang="en-US" dirty="0" err="1"/>
              <a:t>sẽ</a:t>
            </a:r>
            <a:r>
              <a:rPr lang="en-US" dirty="0"/>
              <a:t> encoder </a:t>
            </a:r>
            <a:r>
              <a:rPr lang="en-US" dirty="0" err="1"/>
              <a:t>tất</a:t>
            </a:r>
            <a:r>
              <a:rPr lang="en-US" dirty="0"/>
              <a:t> </a:t>
            </a:r>
            <a:r>
              <a:rPr lang="en-US" dirty="0" err="1"/>
              <a:t>cả</a:t>
            </a:r>
            <a:r>
              <a:rPr lang="en-US" dirty="0"/>
              <a:t>, </a:t>
            </a:r>
            <a:r>
              <a:rPr lang="en-US" dirty="0" err="1"/>
              <a:t>khiến</a:t>
            </a:r>
            <a:r>
              <a:rPr lang="en-US" dirty="0"/>
              <a:t> </a:t>
            </a:r>
            <a:r>
              <a:rPr lang="en-US" dirty="0" err="1"/>
              <a:t>thông</a:t>
            </a:r>
            <a:r>
              <a:rPr lang="en-US" dirty="0"/>
              <a:t> tin </a:t>
            </a:r>
            <a:r>
              <a:rPr lang="en-US" dirty="0" err="1"/>
              <a:t>ngữ</a:t>
            </a:r>
            <a:r>
              <a:rPr lang="en-US" dirty="0"/>
              <a:t> </a:t>
            </a:r>
            <a:r>
              <a:rPr lang="en-US" dirty="0" err="1"/>
              <a:t>nghĩa</a:t>
            </a:r>
            <a:r>
              <a:rPr lang="en-US" dirty="0"/>
              <a:t> </a:t>
            </a:r>
            <a:r>
              <a:rPr lang="en-US" dirty="0" err="1"/>
              <a:t>của</a:t>
            </a:r>
            <a:r>
              <a:rPr lang="en-US" dirty="0"/>
              <a:t> </a:t>
            </a:r>
            <a:r>
              <a:rPr lang="en-US" dirty="0" err="1"/>
              <a:t>cái</a:t>
            </a:r>
            <a:r>
              <a:rPr lang="en-US" dirty="0"/>
              <a:t> ô </a:t>
            </a:r>
            <a:r>
              <a:rPr lang="en-US" dirty="0" err="1"/>
              <a:t>tô</a:t>
            </a:r>
            <a:r>
              <a:rPr lang="en-US" dirty="0"/>
              <a:t> </a:t>
            </a:r>
            <a:r>
              <a:rPr lang="en-US" dirty="0" err="1"/>
              <a:t>lẫn</a:t>
            </a:r>
            <a:r>
              <a:rPr lang="en-US" dirty="0"/>
              <a:t> </a:t>
            </a:r>
            <a:r>
              <a:rPr lang="en-US" dirty="0" err="1"/>
              <a:t>vào</a:t>
            </a:r>
            <a:r>
              <a:rPr lang="en-US" dirty="0"/>
              <a:t>, </a:t>
            </a:r>
            <a:r>
              <a:rPr lang="en-US" dirty="0" err="1"/>
              <a:t>khiến</a:t>
            </a:r>
            <a:r>
              <a:rPr lang="en-US" dirty="0"/>
              <a:t> </a:t>
            </a:r>
            <a:r>
              <a:rPr lang="en-US" dirty="0" err="1"/>
              <a:t>DiT</a:t>
            </a:r>
            <a:r>
              <a:rPr lang="en-US" dirty="0"/>
              <a:t> </a:t>
            </a:r>
            <a:r>
              <a:rPr lang="en-US" dirty="0" err="1"/>
              <a:t>nhiều</a:t>
            </a:r>
            <a:r>
              <a:rPr lang="en-US" dirty="0"/>
              <a:t> </a:t>
            </a:r>
            <a:r>
              <a:rPr lang="en-US" dirty="0" err="1"/>
              <a:t>khả</a:t>
            </a:r>
            <a:r>
              <a:rPr lang="en-US" dirty="0"/>
              <a:t> </a:t>
            </a:r>
            <a:r>
              <a:rPr lang="en-US" dirty="0" err="1"/>
              <a:t>năng</a:t>
            </a:r>
            <a:r>
              <a:rPr lang="en-US" dirty="0"/>
              <a:t> </a:t>
            </a:r>
            <a:r>
              <a:rPr lang="en-US" dirty="0" err="1"/>
              <a:t>vẽ</a:t>
            </a:r>
            <a:r>
              <a:rPr lang="en-US" dirty="0"/>
              <a:t> ra </a:t>
            </a:r>
            <a:r>
              <a:rPr lang="en-US" dirty="0" err="1"/>
              <a:t>cái</a:t>
            </a:r>
            <a:r>
              <a:rPr lang="en-US" dirty="0"/>
              <a:t> ô </a:t>
            </a:r>
            <a:r>
              <a:rPr lang="en-US" dirty="0" err="1"/>
              <a:t>tô</a:t>
            </a:r>
            <a:r>
              <a:rPr lang="en-US" dirty="0"/>
              <a:t> </a:t>
            </a:r>
            <a:r>
              <a:rPr lang="en-US" dirty="0" err="1"/>
              <a:t>trên</a:t>
            </a:r>
            <a:r>
              <a:rPr lang="en-US" dirty="0"/>
              <a:t> </a:t>
            </a:r>
            <a:r>
              <a:rPr lang="en-US" dirty="0" err="1"/>
              <a:t>cái</a:t>
            </a:r>
            <a:r>
              <a:rPr lang="en-US" dirty="0"/>
              <a:t> </a:t>
            </a:r>
            <a:r>
              <a:rPr lang="en-US" dirty="0" err="1"/>
              <a:t>cốc</a:t>
            </a:r>
            <a:br>
              <a:rPr dirty="0"/>
            </a:br>
            <a:br>
              <a:rPr dirty="0"/>
            </a:b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SÁNG KIẾN KỸ THUẬT</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05 / 11</a:t>
            </a:r>
          </a:p>
        </p:txBody>
      </p:sp>
      <p:sp>
        <p:nvSpPr>
          <p:cNvPr id="5" name="TextBox 4"/>
          <p:cNvSpPr txBox="1"/>
          <p:nvPr/>
        </p:nvSpPr>
        <p:spPr>
          <a:xfrm>
            <a:off x="731520" y="685800"/>
            <a:ext cx="10698480" cy="446276"/>
          </a:xfrm>
          <a:prstGeom prst="rect">
            <a:avLst/>
          </a:prstGeom>
          <a:noFill/>
        </p:spPr>
        <p:txBody>
          <a:bodyPr wrap="square">
            <a:spAutoFit/>
          </a:bodyPr>
          <a:lstStyle/>
          <a:p>
            <a:pPr>
              <a:defRPr sz="2300" b="1">
                <a:solidFill>
                  <a:srgbClr val="0F172A"/>
                </a:solidFill>
                <a:latin typeface="Segoe UI"/>
              </a:defRPr>
            </a:pPr>
            <a:r>
              <a:rPr dirty="0" err="1"/>
              <a:t>Giải</a:t>
            </a:r>
            <a:r>
              <a:rPr dirty="0"/>
              <a:t> </a:t>
            </a:r>
            <a:r>
              <a:rPr dirty="0" err="1"/>
              <a:t>Pháp</a:t>
            </a:r>
            <a:r>
              <a:rPr dirty="0"/>
              <a:t>: Dynamic Glyph In-Context Conditioning</a:t>
            </a:r>
          </a:p>
        </p:txBody>
      </p:sp>
      <p:sp>
        <p:nvSpPr>
          <p:cNvPr id="6" name="Rounded Rectangle 5"/>
          <p:cNvSpPr/>
          <p:nvPr/>
        </p:nvSpPr>
        <p:spPr>
          <a:xfrm>
            <a:off x="731520"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828800"/>
            <a:ext cx="3090672" cy="1810752"/>
          </a:xfrm>
          <a:prstGeom prst="rect">
            <a:avLst/>
          </a:prstGeom>
          <a:noFill/>
        </p:spPr>
        <p:txBody>
          <a:bodyPr wrap="square">
            <a:spAutoFit/>
          </a:bodyPr>
          <a:lstStyle/>
          <a:p>
            <a:pPr>
              <a:defRPr sz="1400" b="1">
                <a:solidFill>
                  <a:srgbClr val="0284C7"/>
                </a:solidFill>
                <a:latin typeface="Segoe UI"/>
              </a:defRPr>
            </a:pPr>
            <a:r>
              <a:rPr dirty="0"/>
              <a:t>🔤 1. Render Glyph </a:t>
            </a:r>
            <a:r>
              <a:rPr dirty="0" err="1"/>
              <a:t>Đen-Trắng</a:t>
            </a:r>
            <a:r>
              <a:rPr dirty="0"/>
              <a:t> </a:t>
            </a:r>
            <a:r>
              <a:rPr dirty="0" err="1"/>
              <a:t>Chuẩn</a:t>
            </a:r>
            <a:r>
              <a:rPr dirty="0"/>
              <a:t> TTF</a:t>
            </a:r>
          </a:p>
          <a:p>
            <a:pPr>
              <a:spcBef>
                <a:spcPts val="1400"/>
              </a:spcBef>
              <a:defRPr sz="1200">
                <a:solidFill>
                  <a:srgbClr val="0F172A"/>
                </a:solidFill>
                <a:latin typeface="Segoe UI"/>
              </a:defRPr>
            </a:pPr>
            <a:r>
              <a:rPr lang="en-US" dirty="0" err="1"/>
              <a:t>Tách</a:t>
            </a:r>
            <a:r>
              <a:rPr lang="en-US" dirty="0"/>
              <a:t> </a:t>
            </a:r>
            <a:r>
              <a:rPr lang="en-US" dirty="0" err="1"/>
              <a:t>phần</a:t>
            </a:r>
            <a:r>
              <a:rPr lang="en-US" dirty="0"/>
              <a:t> </a:t>
            </a:r>
            <a:r>
              <a:rPr lang="en-US" dirty="0" err="1"/>
              <a:t>chữ</a:t>
            </a:r>
            <a:r>
              <a:rPr lang="en-US" dirty="0"/>
              <a:t> </a:t>
            </a:r>
            <a:r>
              <a:rPr lang="en-US" dirty="0" err="1"/>
              <a:t>người</a:t>
            </a:r>
            <a:r>
              <a:rPr lang="en-US" dirty="0"/>
              <a:t> </a:t>
            </a:r>
            <a:r>
              <a:rPr lang="en-US" dirty="0" err="1"/>
              <a:t>dùng</a:t>
            </a:r>
            <a:r>
              <a:rPr lang="en-US" dirty="0"/>
              <a:t> </a:t>
            </a:r>
            <a:r>
              <a:rPr lang="en-US" dirty="0" err="1"/>
              <a:t>muốn</a:t>
            </a:r>
            <a:r>
              <a:rPr lang="en-US" dirty="0"/>
              <a:t> </a:t>
            </a:r>
            <a:r>
              <a:rPr lang="en-US" dirty="0" err="1"/>
              <a:t>khỏi</a:t>
            </a:r>
            <a:r>
              <a:rPr lang="en-US" dirty="0"/>
              <a:t> prompt, </a:t>
            </a:r>
            <a:r>
              <a:rPr lang="en-US" dirty="0" err="1"/>
              <a:t>d</a:t>
            </a:r>
            <a:r>
              <a:rPr dirty="0" err="1"/>
              <a:t>ùng</a:t>
            </a:r>
            <a:r>
              <a:rPr dirty="0"/>
              <a:t> Python PIL/OpenCV render </a:t>
            </a:r>
            <a:r>
              <a:rPr dirty="0" err="1"/>
              <a:t>trực</a:t>
            </a:r>
            <a:r>
              <a:rPr dirty="0"/>
              <a:t> </a:t>
            </a:r>
            <a:r>
              <a:rPr dirty="0" err="1"/>
              <a:t>tiếp</a:t>
            </a:r>
            <a:r>
              <a:rPr dirty="0"/>
              <a:t> file font </a:t>
            </a:r>
            <a:r>
              <a:rPr dirty="0" err="1"/>
              <a:t>thương</a:t>
            </a:r>
            <a:r>
              <a:rPr dirty="0"/>
              <a:t> </a:t>
            </a:r>
            <a:r>
              <a:rPr dirty="0" err="1"/>
              <a:t>mại</a:t>
            </a:r>
            <a:r>
              <a:rPr dirty="0"/>
              <a:t> (Anton, </a:t>
            </a:r>
            <a:r>
              <a:rPr dirty="0" err="1"/>
              <a:t>BeVietnamPro</a:t>
            </a:r>
            <a:r>
              <a:rPr dirty="0"/>
              <a:t>, </a:t>
            </a:r>
            <a:r>
              <a:rPr dirty="0" err="1"/>
              <a:t>Pacifico</a:t>
            </a:r>
            <a:r>
              <a:rPr dirty="0"/>
              <a:t>, Playfair, Sedgwick). </a:t>
            </a:r>
            <a:r>
              <a:rPr lang="en-US" dirty="0"/>
              <a:t>Render </a:t>
            </a:r>
            <a:r>
              <a:rPr lang="en-US" dirty="0" err="1"/>
              <a:t>thành</a:t>
            </a:r>
            <a:r>
              <a:rPr lang="en-US" dirty="0"/>
              <a:t> </a:t>
            </a:r>
            <a:r>
              <a:rPr lang="en-US" dirty="0" err="1"/>
              <a:t>ảnh</a:t>
            </a:r>
            <a:r>
              <a:rPr lang="en-US" dirty="0"/>
              <a:t> </a:t>
            </a:r>
            <a:r>
              <a:rPr lang="en-US" dirty="0" err="1"/>
              <a:t>chữ</a:t>
            </a:r>
            <a:r>
              <a:rPr lang="en-US" dirty="0"/>
              <a:t> </a:t>
            </a:r>
            <a:r>
              <a:rPr lang="en-US" dirty="0" err="1"/>
              <a:t>đen</a:t>
            </a:r>
            <a:r>
              <a:rPr lang="en-US" dirty="0"/>
              <a:t> </a:t>
            </a:r>
            <a:r>
              <a:rPr lang="en-US" dirty="0" err="1"/>
              <a:t>trắng</a:t>
            </a:r>
            <a:r>
              <a:rPr lang="en-US" dirty="0"/>
              <a:t> (</a:t>
            </a:r>
            <a:r>
              <a:rPr lang="en-US" dirty="0" err="1"/>
              <a:t>ảnh</a:t>
            </a:r>
            <a:r>
              <a:rPr lang="en-US" dirty="0"/>
              <a:t> Glyph)</a:t>
            </a:r>
            <a:endParaRPr dirty="0"/>
          </a:p>
        </p:txBody>
      </p:sp>
      <p:sp>
        <p:nvSpPr>
          <p:cNvPr id="8" name="Rounded Rectangle 7"/>
          <p:cNvSpPr/>
          <p:nvPr/>
        </p:nvSpPr>
        <p:spPr>
          <a:xfrm>
            <a:off x="4370832"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53712" y="1828800"/>
            <a:ext cx="3090672" cy="2328843"/>
          </a:xfrm>
          <a:prstGeom prst="rect">
            <a:avLst/>
          </a:prstGeom>
          <a:noFill/>
        </p:spPr>
        <p:txBody>
          <a:bodyPr wrap="square">
            <a:spAutoFit/>
          </a:bodyPr>
          <a:lstStyle/>
          <a:p>
            <a:pPr>
              <a:defRPr sz="1400" b="1">
                <a:solidFill>
                  <a:srgbClr val="059669"/>
                </a:solidFill>
                <a:latin typeface="Segoe UI"/>
              </a:defRPr>
            </a:pPr>
            <a:r>
              <a:rPr dirty="0"/>
              <a:t>📐 2. </a:t>
            </a:r>
            <a:r>
              <a:rPr lang="en-US" dirty="0" err="1"/>
              <a:t>Sửa</a:t>
            </a:r>
            <a:r>
              <a:rPr lang="en-US" dirty="0"/>
              <a:t> prompt</a:t>
            </a:r>
          </a:p>
          <a:p>
            <a:pPr>
              <a:spcBef>
                <a:spcPts val="1400"/>
              </a:spcBef>
              <a:defRPr sz="1200">
                <a:solidFill>
                  <a:srgbClr val="0F172A"/>
                </a:solidFill>
                <a:latin typeface="Segoe UI"/>
              </a:defRPr>
            </a:pPr>
            <a:r>
              <a:rPr lang="en-US" dirty="0" err="1"/>
              <a:t>Sửa</a:t>
            </a:r>
            <a:r>
              <a:rPr lang="en-US" dirty="0"/>
              <a:t> prompt </a:t>
            </a:r>
            <a:r>
              <a:rPr lang="en-US" dirty="0" err="1"/>
              <a:t>thành</a:t>
            </a:r>
            <a:r>
              <a:rPr lang="en-US" dirty="0"/>
              <a:t> </a:t>
            </a:r>
            <a:r>
              <a:rPr lang="en-US" dirty="0" err="1"/>
              <a:t>không</a:t>
            </a:r>
            <a:r>
              <a:rPr lang="en-US" dirty="0"/>
              <a:t> </a:t>
            </a:r>
            <a:r>
              <a:rPr lang="en-US" dirty="0" err="1"/>
              <a:t>nhắc</a:t>
            </a:r>
            <a:r>
              <a:rPr lang="en-US" dirty="0"/>
              <a:t> </a:t>
            </a:r>
            <a:r>
              <a:rPr lang="en-US" dirty="0" err="1"/>
              <a:t>đến</a:t>
            </a:r>
            <a:r>
              <a:rPr lang="en-US" dirty="0"/>
              <a:t> </a:t>
            </a:r>
            <a:r>
              <a:rPr lang="en-US" dirty="0" err="1"/>
              <a:t>nội</a:t>
            </a:r>
            <a:r>
              <a:rPr lang="en-US" dirty="0"/>
              <a:t> dung text </a:t>
            </a:r>
            <a:r>
              <a:rPr lang="en-US" dirty="0" err="1"/>
              <a:t>được</a:t>
            </a:r>
            <a:r>
              <a:rPr lang="en-US" dirty="0"/>
              <a:t> </a:t>
            </a:r>
            <a:r>
              <a:rPr lang="en-US" dirty="0" err="1"/>
              <a:t>ghi</a:t>
            </a:r>
            <a:r>
              <a:rPr lang="en-US" dirty="0"/>
              <a:t>, </a:t>
            </a:r>
            <a:r>
              <a:rPr lang="en-US" dirty="0" err="1"/>
              <a:t>chỉ</a:t>
            </a:r>
            <a:r>
              <a:rPr lang="en-US" dirty="0"/>
              <a:t> </a:t>
            </a:r>
            <a:r>
              <a:rPr lang="en-US" dirty="0" err="1"/>
              <a:t>yêu</a:t>
            </a:r>
            <a:r>
              <a:rPr lang="en-US" dirty="0"/>
              <a:t> </a:t>
            </a:r>
            <a:r>
              <a:rPr lang="en-US" dirty="0" err="1"/>
              <a:t>cầu</a:t>
            </a:r>
            <a:r>
              <a:rPr lang="en-US" dirty="0"/>
              <a:t> </a:t>
            </a:r>
            <a:r>
              <a:rPr lang="en-US" dirty="0" err="1"/>
              <a:t>về</a:t>
            </a:r>
            <a:r>
              <a:rPr lang="en-US" dirty="0"/>
              <a:t> </a:t>
            </a:r>
            <a:r>
              <a:rPr lang="en-US" dirty="0" err="1"/>
              <a:t>ảnh</a:t>
            </a:r>
            <a:r>
              <a:rPr lang="en-US" dirty="0"/>
              <a:t> </a:t>
            </a:r>
            <a:r>
              <a:rPr lang="en-US" dirty="0" err="1"/>
              <a:t>đầu</a:t>
            </a:r>
            <a:r>
              <a:rPr lang="en-US" dirty="0"/>
              <a:t> ra, texture, light, </a:t>
            </a:r>
            <a:r>
              <a:rPr lang="en-US" dirty="0" err="1"/>
              <a:t>cách</a:t>
            </a:r>
            <a:r>
              <a:rPr lang="en-US" dirty="0"/>
              <a:t> </a:t>
            </a:r>
            <a:r>
              <a:rPr lang="en-US" dirty="0" err="1"/>
              <a:t>viết</a:t>
            </a:r>
            <a:r>
              <a:rPr lang="en-US" dirty="0"/>
              <a:t> </a:t>
            </a:r>
            <a:r>
              <a:rPr lang="en-US" dirty="0" err="1"/>
              <a:t>của</a:t>
            </a:r>
            <a:r>
              <a:rPr lang="en-US" dirty="0"/>
              <a:t> text, </a:t>
            </a:r>
            <a:r>
              <a:rPr lang="en-US" dirty="0" err="1"/>
              <a:t>ví</a:t>
            </a:r>
            <a:r>
              <a:rPr lang="en-US" dirty="0"/>
              <a:t> </a:t>
            </a:r>
            <a:r>
              <a:rPr lang="en-US" dirty="0" err="1"/>
              <a:t>dụ</a:t>
            </a:r>
            <a:r>
              <a:rPr lang="en-US" dirty="0"/>
              <a:t>:</a:t>
            </a:r>
          </a:p>
          <a:p>
            <a:pPr>
              <a:spcBef>
                <a:spcPts val="1400"/>
              </a:spcBef>
              <a:defRPr sz="1200">
                <a:solidFill>
                  <a:srgbClr val="0F172A"/>
                </a:solidFill>
                <a:latin typeface="Segoe UI"/>
              </a:defRPr>
            </a:pPr>
            <a:r>
              <a:rPr lang="en-US" dirty="0"/>
              <a:t>“</a:t>
            </a:r>
            <a:r>
              <a:rPr lang="vi-VN" b="0" i="0" dirty="0">
                <a:solidFill>
                  <a:srgbClr val="313131"/>
                </a:solidFill>
                <a:effectLst/>
                <a:latin typeface="SF Pro Text"/>
              </a:rPr>
              <a:t>Ảnh chụp quảng cáo thương mại cho tai nghe chụp tai không dây màu đen sang trọng đặt trên mặt bục tối giản, dòng chữ vàng gold kim loại dập nổi 3D phản chiếu ánh sáng studio ấm áp, đổ bóng sắc nét lên nền vàng, phong cách điện ảnh cao cấp</a:t>
            </a:r>
            <a:r>
              <a:rPr lang="en-US" dirty="0"/>
              <a:t>”</a:t>
            </a:r>
            <a:endParaRPr lang="vi-VN" dirty="0"/>
          </a:p>
        </p:txBody>
      </p:sp>
      <p:sp>
        <p:nvSpPr>
          <p:cNvPr id="10" name="Rounded Rectangle 9"/>
          <p:cNvSpPr/>
          <p:nvPr/>
        </p:nvSpPr>
        <p:spPr>
          <a:xfrm>
            <a:off x="8010144"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93024" y="1828800"/>
            <a:ext cx="3090672" cy="1472198"/>
          </a:xfrm>
          <a:prstGeom prst="rect">
            <a:avLst/>
          </a:prstGeom>
          <a:noFill/>
        </p:spPr>
        <p:txBody>
          <a:bodyPr wrap="square">
            <a:spAutoFit/>
          </a:bodyPr>
          <a:lstStyle/>
          <a:p>
            <a:pPr>
              <a:defRPr sz="1400" b="1">
                <a:solidFill>
                  <a:srgbClr val="7C3AED"/>
                </a:solidFill>
                <a:latin typeface="Segoe UI"/>
              </a:defRPr>
            </a:pPr>
            <a:r>
              <a:rPr dirty="0"/>
              <a:t>🎨 3. </a:t>
            </a:r>
            <a:r>
              <a:rPr lang="en-US" dirty="0" err="1"/>
              <a:t>Truyền</a:t>
            </a:r>
            <a:r>
              <a:rPr lang="en-US" dirty="0"/>
              <a:t> </a:t>
            </a:r>
            <a:r>
              <a:rPr lang="en-US" dirty="0" err="1"/>
              <a:t>ảnh</a:t>
            </a:r>
            <a:r>
              <a:rPr lang="en-US" dirty="0"/>
              <a:t> Glyph, </a:t>
            </a:r>
            <a:r>
              <a:rPr lang="en-US" dirty="0" err="1"/>
              <a:t>ảnh</a:t>
            </a:r>
            <a:r>
              <a:rPr lang="en-US" dirty="0"/>
              <a:t> </a:t>
            </a:r>
            <a:r>
              <a:rPr lang="en-US" dirty="0" err="1"/>
              <a:t>sản</a:t>
            </a:r>
            <a:r>
              <a:rPr lang="en-US" dirty="0"/>
              <a:t> </a:t>
            </a:r>
            <a:r>
              <a:rPr lang="en-US" dirty="0" err="1"/>
              <a:t>phẩm</a:t>
            </a:r>
            <a:r>
              <a:rPr lang="en-US" dirty="0"/>
              <a:t> </a:t>
            </a:r>
            <a:r>
              <a:rPr lang="en-US" dirty="0" err="1"/>
              <a:t>tham</a:t>
            </a:r>
            <a:r>
              <a:rPr lang="en-US" dirty="0"/>
              <a:t> </a:t>
            </a:r>
            <a:r>
              <a:rPr lang="en-US" dirty="0" err="1"/>
              <a:t>chiếu</a:t>
            </a:r>
            <a:r>
              <a:rPr lang="en-US" dirty="0"/>
              <a:t> </a:t>
            </a:r>
            <a:r>
              <a:rPr lang="en-US" dirty="0" err="1"/>
              <a:t>nếu</a:t>
            </a:r>
            <a:r>
              <a:rPr lang="en-US" dirty="0"/>
              <a:t> </a:t>
            </a:r>
            <a:r>
              <a:rPr lang="en-US" dirty="0" err="1"/>
              <a:t>có</a:t>
            </a:r>
            <a:r>
              <a:rPr lang="en-US" dirty="0"/>
              <a:t> &amp; prompt </a:t>
            </a:r>
            <a:r>
              <a:rPr lang="en-US" dirty="0" err="1"/>
              <a:t>vào</a:t>
            </a:r>
            <a:r>
              <a:rPr lang="en-US" dirty="0"/>
              <a:t> model</a:t>
            </a:r>
            <a:endParaRPr dirty="0"/>
          </a:p>
          <a:p>
            <a:pPr>
              <a:spcBef>
                <a:spcPts val="1400"/>
              </a:spcBef>
              <a:defRPr sz="1200">
                <a:solidFill>
                  <a:srgbClr val="0F172A"/>
                </a:solidFill>
                <a:latin typeface="Segoe UI"/>
              </a:defRPr>
            </a:pPr>
            <a:r>
              <a:rPr lang="en-US" dirty="0" err="1"/>
              <a:t>Ảnh</a:t>
            </a:r>
            <a:r>
              <a:rPr lang="en-US" dirty="0"/>
              <a:t> Glyph </a:t>
            </a:r>
            <a:r>
              <a:rPr lang="en-US" dirty="0" err="1"/>
              <a:t>đặt</a:t>
            </a:r>
            <a:r>
              <a:rPr lang="en-US" dirty="0"/>
              <a:t> </a:t>
            </a:r>
            <a:r>
              <a:rPr lang="en-US" dirty="0" err="1"/>
              <a:t>tại</a:t>
            </a:r>
            <a:r>
              <a:rPr lang="en-US" dirty="0"/>
              <a:t> </a:t>
            </a:r>
            <a:r>
              <a:rPr lang="en-US" dirty="0" err="1"/>
              <a:t>bước</a:t>
            </a:r>
            <a:r>
              <a:rPr lang="en-US" dirty="0"/>
              <a:t> </a:t>
            </a:r>
            <a:r>
              <a:rPr lang="en-US" dirty="0" err="1"/>
              <a:t>không</a:t>
            </a:r>
            <a:r>
              <a:rPr lang="en-US" dirty="0"/>
              <a:t> </a:t>
            </a:r>
            <a:r>
              <a:rPr lang="en-US" dirty="0" err="1"/>
              <a:t>gian</a:t>
            </a:r>
            <a:r>
              <a:rPr lang="en-US" dirty="0"/>
              <a:t> t=10.0 (BFL </a:t>
            </a:r>
            <a:r>
              <a:rPr lang="en-US" dirty="0" err="1"/>
              <a:t>mặc</a:t>
            </a:r>
            <a:r>
              <a:rPr lang="en-US" dirty="0"/>
              <a:t> </a:t>
            </a:r>
            <a:r>
              <a:rPr lang="en-US" dirty="0" err="1"/>
              <a:t>định</a:t>
            </a:r>
            <a:r>
              <a:rPr lang="en-US" dirty="0"/>
              <a:t> </a:t>
            </a:r>
            <a:r>
              <a:rPr lang="en-US" dirty="0" err="1"/>
              <a:t>vị</a:t>
            </a:r>
            <a:r>
              <a:rPr lang="en-US" dirty="0"/>
              <a:t> </a:t>
            </a:r>
            <a:r>
              <a:rPr lang="en-US" dirty="0" err="1"/>
              <a:t>trí</a:t>
            </a:r>
            <a:r>
              <a:rPr lang="en-US" dirty="0"/>
              <a:t> </a:t>
            </a:r>
            <a:r>
              <a:rPr lang="en-US" dirty="0" err="1"/>
              <a:t>ảnh</a:t>
            </a:r>
            <a:r>
              <a:rPr lang="en-US" dirty="0"/>
              <a:t> ref </a:t>
            </a:r>
            <a:r>
              <a:rPr lang="en-US" dirty="0" err="1"/>
              <a:t>đầu</a:t>
            </a:r>
            <a:r>
              <a:rPr lang="en-US" dirty="0"/>
              <a:t> </a:t>
            </a:r>
            <a:r>
              <a:rPr lang="en-US" dirty="0" err="1"/>
              <a:t>tiên</a:t>
            </a:r>
            <a:r>
              <a:rPr lang="en-US" dirty="0"/>
              <a:t> </a:t>
            </a:r>
            <a:r>
              <a:rPr lang="en-US" dirty="0" err="1"/>
              <a:t>là</a:t>
            </a:r>
            <a:r>
              <a:rPr lang="en-US" dirty="0"/>
              <a:t> 10.0, </a:t>
            </a:r>
            <a:r>
              <a:rPr lang="en-US" dirty="0" err="1"/>
              <a:t>các</a:t>
            </a:r>
            <a:r>
              <a:rPr lang="en-US" dirty="0"/>
              <a:t> </a:t>
            </a:r>
            <a:r>
              <a:rPr lang="en-US" dirty="0" err="1"/>
              <a:t>ảnh</a:t>
            </a:r>
            <a:r>
              <a:rPr lang="en-US" dirty="0"/>
              <a:t> </a:t>
            </a:r>
            <a:r>
              <a:rPr lang="en-US" dirty="0" err="1"/>
              <a:t>sau</a:t>
            </a:r>
            <a:r>
              <a:rPr lang="en-US" dirty="0"/>
              <a:t> </a:t>
            </a:r>
            <a:r>
              <a:rPr lang="en-US" dirty="0" err="1"/>
              <a:t>tự</a:t>
            </a:r>
            <a:r>
              <a:rPr lang="en-US" dirty="0"/>
              <a:t> sang 20.0, 30.0, 40.0, …)</a:t>
            </a:r>
            <a:endParaRPr dirty="0"/>
          </a:p>
        </p:txBody>
      </p:sp>
      <p:sp>
        <p:nvSpPr>
          <p:cNvPr id="14" name="AutoShape 2">
            <a:extLst>
              <a:ext uri="{FF2B5EF4-FFF2-40B4-BE49-F238E27FC236}">
                <a16:creationId xmlns:a16="http://schemas.microsoft.com/office/drawing/2014/main" id="{AA360957-00F3-4C41-82E6-E45DB5AE4F3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5" name="Picture 14">
            <a:extLst>
              <a:ext uri="{FF2B5EF4-FFF2-40B4-BE49-F238E27FC236}">
                <a16:creationId xmlns:a16="http://schemas.microsoft.com/office/drawing/2014/main" id="{8C759F23-D682-4D91-83E4-42B8911CE149}"/>
              </a:ext>
            </a:extLst>
          </p:cNvPr>
          <p:cNvPicPr>
            <a:picLocks noChangeAspect="1"/>
          </p:cNvPicPr>
          <p:nvPr/>
        </p:nvPicPr>
        <p:blipFill>
          <a:blip r:embed="rId2"/>
          <a:stretch>
            <a:fillRect/>
          </a:stretch>
        </p:blipFill>
        <p:spPr>
          <a:xfrm>
            <a:off x="803128" y="4057649"/>
            <a:ext cx="3313215" cy="1449532"/>
          </a:xfrm>
          <a:prstGeom prst="rect">
            <a:avLst/>
          </a:prstGeom>
        </p:spPr>
      </p:pic>
      <p:sp>
        <p:nvSpPr>
          <p:cNvPr id="16" name="AutoShape 4">
            <a:extLst>
              <a:ext uri="{FF2B5EF4-FFF2-40B4-BE49-F238E27FC236}">
                <a16:creationId xmlns:a16="http://schemas.microsoft.com/office/drawing/2014/main" id="{E280EB4D-D6F4-429C-9243-C1EC619975BC}"/>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7" name="Picture 16">
            <a:extLst>
              <a:ext uri="{FF2B5EF4-FFF2-40B4-BE49-F238E27FC236}">
                <a16:creationId xmlns:a16="http://schemas.microsoft.com/office/drawing/2014/main" id="{02FB5CD1-CE0D-4457-9D1A-8A8788D9155A}"/>
              </a:ext>
            </a:extLst>
          </p:cNvPr>
          <p:cNvPicPr>
            <a:picLocks noChangeAspect="1"/>
          </p:cNvPicPr>
          <p:nvPr/>
        </p:nvPicPr>
        <p:blipFill>
          <a:blip r:embed="rId3"/>
          <a:stretch>
            <a:fillRect/>
          </a:stretch>
        </p:blipFill>
        <p:spPr>
          <a:xfrm>
            <a:off x="8929669" y="3300998"/>
            <a:ext cx="1712384" cy="304423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KẾT QUẢ THỰC NGHIỆM ĐỈNH CAO</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06 / 11</a:t>
            </a:r>
          </a:p>
        </p:txBody>
      </p:sp>
      <p:sp>
        <p:nvSpPr>
          <p:cNvPr id="5" name="TextBox 4"/>
          <p:cNvSpPr txBox="1"/>
          <p:nvPr/>
        </p:nvSpPr>
        <p:spPr>
          <a:xfrm>
            <a:off x="731520" y="685800"/>
            <a:ext cx="10698480" cy="446276"/>
          </a:xfrm>
          <a:prstGeom prst="rect">
            <a:avLst/>
          </a:prstGeom>
          <a:noFill/>
        </p:spPr>
        <p:txBody>
          <a:bodyPr wrap="square">
            <a:spAutoFit/>
          </a:bodyPr>
          <a:lstStyle/>
          <a:p>
            <a:pPr>
              <a:defRPr sz="2300" b="1">
                <a:solidFill>
                  <a:srgbClr val="0F172A"/>
                </a:solidFill>
                <a:latin typeface="Segoe UI"/>
              </a:defRPr>
            </a:pPr>
            <a:r>
              <a:rPr lang="en-US" dirty="0"/>
              <a:t>KẾT QUẢ: </a:t>
            </a:r>
            <a:r>
              <a:rPr lang="en-US" dirty="0" err="1"/>
              <a:t>Đổi</a:t>
            </a:r>
            <a:r>
              <a:rPr lang="en-US" dirty="0"/>
              <a:t> font + prompt </a:t>
            </a:r>
            <a:r>
              <a:rPr lang="en-US" dirty="0" err="1"/>
              <a:t>chỉ</a:t>
            </a:r>
            <a:r>
              <a:rPr lang="en-US" dirty="0"/>
              <a:t> </a:t>
            </a:r>
            <a:r>
              <a:rPr lang="en-US" dirty="0" err="1"/>
              <a:t>định</a:t>
            </a:r>
            <a:r>
              <a:rPr lang="en-US" dirty="0"/>
              <a:t> </a:t>
            </a:r>
            <a:r>
              <a:rPr lang="en-US" dirty="0" err="1"/>
              <a:t>ánh</a:t>
            </a:r>
            <a:r>
              <a:rPr lang="en-US" dirty="0"/>
              <a:t> </a:t>
            </a:r>
            <a:r>
              <a:rPr lang="en-US" dirty="0" err="1"/>
              <a:t>sáng</a:t>
            </a:r>
            <a:r>
              <a:rPr lang="en-US" dirty="0"/>
              <a:t>, in </a:t>
            </a:r>
            <a:r>
              <a:rPr lang="en-US" dirty="0" err="1"/>
              <a:t>chìm</a:t>
            </a:r>
            <a:r>
              <a:rPr lang="en-US" dirty="0"/>
              <a:t> </a:t>
            </a:r>
            <a:r>
              <a:rPr lang="en-US" dirty="0" err="1"/>
              <a:t>nổi</a:t>
            </a:r>
            <a:endParaRPr dirty="0"/>
          </a:p>
        </p:txBody>
      </p:sp>
      <p:sp>
        <p:nvSpPr>
          <p:cNvPr id="6" name="Rounded Rectangle 5"/>
          <p:cNvSpPr/>
          <p:nvPr/>
        </p:nvSpPr>
        <p:spPr>
          <a:xfrm>
            <a:off x="731520" y="1645920"/>
            <a:ext cx="525780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874520"/>
            <a:ext cx="4800600" cy="1554272"/>
          </a:xfrm>
          <a:prstGeom prst="rect">
            <a:avLst/>
          </a:prstGeom>
          <a:noFill/>
        </p:spPr>
        <p:txBody>
          <a:bodyPr wrap="square">
            <a:spAutoFit/>
          </a:bodyPr>
          <a:lstStyle/>
          <a:p>
            <a:pPr>
              <a:defRPr sz="1500" b="1">
                <a:solidFill>
                  <a:srgbClr val="0284C7"/>
                </a:solidFill>
              </a:defRPr>
            </a:pPr>
            <a:r>
              <a:rPr lang="en-GB" dirty="0" err="1"/>
              <a:t>Với</a:t>
            </a:r>
            <a:r>
              <a:rPr lang="en-GB" dirty="0"/>
              <a:t> text </a:t>
            </a:r>
            <a:r>
              <a:rPr lang="en-GB" dirty="0" err="1"/>
              <a:t>ngắn</a:t>
            </a:r>
            <a:r>
              <a:rPr lang="en-GB" dirty="0"/>
              <a:t>:</a:t>
            </a:r>
          </a:p>
          <a:p>
            <a:pPr>
              <a:spcBef>
                <a:spcPts val="1200"/>
              </a:spcBef>
              <a:defRPr sz="1200">
                <a:solidFill>
                  <a:srgbClr val="0F172A"/>
                </a:solidFill>
              </a:defRPr>
            </a:pPr>
            <a:r>
              <a:rPr lang="vi-VN" dirty="0"/>
              <a:t>• một tấm biển hiệu đèn neon phát sáng rực rỡ trong đêm mưa ngập ánh đèn phản chiếu trên đường phố Hà Nội, ánh sáng neon đỏ hồng hắt lên bức tường gạch rêu phong ẩm ướt, phong cách điện ảnh cinematic, 8k, siêu thực</a:t>
            </a:r>
            <a:endParaRPr lang="en-US" dirty="0"/>
          </a:p>
          <a:p>
            <a:pPr>
              <a:spcBef>
                <a:spcPts val="1200"/>
              </a:spcBef>
              <a:defRPr sz="1200">
                <a:solidFill>
                  <a:srgbClr val="0F172A"/>
                </a:solidFill>
              </a:defRPr>
            </a:pPr>
            <a:endParaRPr lang="vi-VN" dirty="0"/>
          </a:p>
        </p:txBody>
      </p:sp>
      <p:sp>
        <p:nvSpPr>
          <p:cNvPr id="8" name="Rounded Rectangle 7"/>
          <p:cNvSpPr/>
          <p:nvPr/>
        </p:nvSpPr>
        <p:spPr>
          <a:xfrm>
            <a:off x="6172200" y="1645920"/>
            <a:ext cx="5257800" cy="4389120"/>
          </a:xfrm>
          <a:prstGeom prst="roundRect">
            <a:avLst/>
          </a:prstGeom>
          <a:solidFill>
            <a:srgbClr val="F0F9FF"/>
          </a:solidFill>
          <a:ln w="1524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AutoShape 2">
            <a:extLst>
              <a:ext uri="{FF2B5EF4-FFF2-40B4-BE49-F238E27FC236}">
                <a16:creationId xmlns:a16="http://schemas.microsoft.com/office/drawing/2014/main" id="{8F5B48F3-A080-4A3D-AB5F-91A1DF2306C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1" name="Picture 10">
            <a:extLst>
              <a:ext uri="{FF2B5EF4-FFF2-40B4-BE49-F238E27FC236}">
                <a16:creationId xmlns:a16="http://schemas.microsoft.com/office/drawing/2014/main" id="{1C8182EC-8DA7-499C-9745-C370F41FFEC2}"/>
              </a:ext>
            </a:extLst>
          </p:cNvPr>
          <p:cNvPicPr>
            <a:picLocks noChangeAspect="1"/>
          </p:cNvPicPr>
          <p:nvPr/>
        </p:nvPicPr>
        <p:blipFill>
          <a:blip r:embed="rId2"/>
          <a:stretch>
            <a:fillRect/>
          </a:stretch>
        </p:blipFill>
        <p:spPr>
          <a:xfrm>
            <a:off x="731520" y="3755858"/>
            <a:ext cx="5244936" cy="1311234"/>
          </a:xfrm>
          <a:prstGeom prst="rect">
            <a:avLst/>
          </a:prstGeom>
        </p:spPr>
      </p:pic>
      <p:sp>
        <p:nvSpPr>
          <p:cNvPr id="12" name="AutoShape 4">
            <a:extLst>
              <a:ext uri="{FF2B5EF4-FFF2-40B4-BE49-F238E27FC236}">
                <a16:creationId xmlns:a16="http://schemas.microsoft.com/office/drawing/2014/main" id="{873DC110-F963-431F-8485-A29825CD13FD}"/>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3" name="Picture 12">
            <a:extLst>
              <a:ext uri="{FF2B5EF4-FFF2-40B4-BE49-F238E27FC236}">
                <a16:creationId xmlns:a16="http://schemas.microsoft.com/office/drawing/2014/main" id="{E5D98CBF-B934-45A9-A3A5-E7385E5500BF}"/>
              </a:ext>
            </a:extLst>
          </p:cNvPr>
          <p:cNvPicPr>
            <a:picLocks noChangeAspect="1"/>
          </p:cNvPicPr>
          <p:nvPr/>
        </p:nvPicPr>
        <p:blipFill>
          <a:blip r:embed="rId3"/>
          <a:stretch>
            <a:fillRect/>
          </a:stretch>
        </p:blipFill>
        <p:spPr>
          <a:xfrm>
            <a:off x="6568935" y="1608315"/>
            <a:ext cx="4464330" cy="4464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KẾT QUẢ THỰC NGHIỆM ĐỈNH CAO</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06 / 11</a:t>
            </a:r>
          </a:p>
        </p:txBody>
      </p:sp>
      <p:sp>
        <p:nvSpPr>
          <p:cNvPr id="5" name="TextBox 4"/>
          <p:cNvSpPr txBox="1"/>
          <p:nvPr/>
        </p:nvSpPr>
        <p:spPr>
          <a:xfrm>
            <a:off x="731520" y="685800"/>
            <a:ext cx="10698480" cy="446276"/>
          </a:xfrm>
          <a:prstGeom prst="rect">
            <a:avLst/>
          </a:prstGeom>
          <a:noFill/>
        </p:spPr>
        <p:txBody>
          <a:bodyPr wrap="square">
            <a:spAutoFit/>
          </a:bodyPr>
          <a:lstStyle/>
          <a:p>
            <a:pPr>
              <a:defRPr sz="2300" b="1">
                <a:solidFill>
                  <a:srgbClr val="0F172A"/>
                </a:solidFill>
                <a:latin typeface="Segoe UI"/>
              </a:defRPr>
            </a:pPr>
            <a:r>
              <a:rPr lang="en-US" dirty="0"/>
              <a:t>KẾT QUẢ: </a:t>
            </a:r>
            <a:r>
              <a:rPr lang="en-US" dirty="0" err="1"/>
              <a:t>Đổi</a:t>
            </a:r>
            <a:r>
              <a:rPr lang="en-US" dirty="0"/>
              <a:t> font + prompt </a:t>
            </a:r>
            <a:r>
              <a:rPr lang="en-US" dirty="0" err="1"/>
              <a:t>chỉ</a:t>
            </a:r>
            <a:r>
              <a:rPr lang="en-US" dirty="0"/>
              <a:t> </a:t>
            </a:r>
            <a:r>
              <a:rPr lang="en-US" dirty="0" err="1"/>
              <a:t>định</a:t>
            </a:r>
            <a:r>
              <a:rPr lang="en-US" dirty="0"/>
              <a:t> </a:t>
            </a:r>
            <a:r>
              <a:rPr lang="en-US" dirty="0" err="1"/>
              <a:t>ánh</a:t>
            </a:r>
            <a:r>
              <a:rPr lang="en-US" dirty="0"/>
              <a:t> </a:t>
            </a:r>
            <a:r>
              <a:rPr lang="en-US" dirty="0" err="1"/>
              <a:t>sáng</a:t>
            </a:r>
            <a:r>
              <a:rPr lang="en-US" dirty="0"/>
              <a:t>, in </a:t>
            </a:r>
            <a:r>
              <a:rPr lang="en-US" dirty="0" err="1"/>
              <a:t>chìm</a:t>
            </a:r>
            <a:r>
              <a:rPr lang="en-US" dirty="0"/>
              <a:t> </a:t>
            </a:r>
            <a:r>
              <a:rPr lang="en-US" dirty="0" err="1"/>
              <a:t>nổi</a:t>
            </a:r>
            <a:endParaRPr dirty="0"/>
          </a:p>
        </p:txBody>
      </p:sp>
      <p:sp>
        <p:nvSpPr>
          <p:cNvPr id="6" name="Rounded Rectangle 5"/>
          <p:cNvSpPr/>
          <p:nvPr/>
        </p:nvSpPr>
        <p:spPr>
          <a:xfrm>
            <a:off x="731520" y="1645920"/>
            <a:ext cx="525780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874520"/>
            <a:ext cx="4800600" cy="1400383"/>
          </a:xfrm>
          <a:prstGeom prst="rect">
            <a:avLst/>
          </a:prstGeom>
          <a:noFill/>
        </p:spPr>
        <p:txBody>
          <a:bodyPr wrap="square">
            <a:spAutoFit/>
          </a:bodyPr>
          <a:lstStyle/>
          <a:p>
            <a:pPr>
              <a:defRPr sz="1500" b="1">
                <a:solidFill>
                  <a:srgbClr val="0284C7"/>
                </a:solidFill>
              </a:defRPr>
            </a:pPr>
            <a:r>
              <a:rPr lang="en-GB" dirty="0" err="1"/>
              <a:t>Với</a:t>
            </a:r>
            <a:r>
              <a:rPr lang="en-GB" dirty="0"/>
              <a:t> text </a:t>
            </a:r>
            <a:r>
              <a:rPr lang="en-GB" dirty="0" err="1"/>
              <a:t>dài</a:t>
            </a:r>
            <a:r>
              <a:rPr lang="en-GB" dirty="0"/>
              <a:t>:</a:t>
            </a:r>
          </a:p>
          <a:p>
            <a:pPr>
              <a:spcBef>
                <a:spcPts val="1200"/>
              </a:spcBef>
              <a:defRPr sz="1200">
                <a:solidFill>
                  <a:srgbClr val="0F172A"/>
                </a:solidFill>
              </a:defRPr>
            </a:pPr>
            <a:r>
              <a:rPr lang="vi-VN" dirty="0"/>
              <a:t>• Bức vách đá sa thạch cổ kính phẳng sừng sững ở tiền cảnh góc bên, bốn câu thơ chữ khắc chìm mạ vàng đồng cổ sắc nét trên mặt đá phẳng phủ rêu phong, hậu cảnh núi non Tây Bắc hùng vĩ mây mù hoàng hôn le lói, phong cách điện ảnh sử thi cổ trang, ánh sáng studio tương phản cao</a:t>
            </a:r>
          </a:p>
        </p:txBody>
      </p:sp>
      <p:sp>
        <p:nvSpPr>
          <p:cNvPr id="8" name="Rounded Rectangle 7"/>
          <p:cNvSpPr/>
          <p:nvPr/>
        </p:nvSpPr>
        <p:spPr>
          <a:xfrm>
            <a:off x="6172200" y="1645920"/>
            <a:ext cx="5257800" cy="4389120"/>
          </a:xfrm>
          <a:prstGeom prst="roundRect">
            <a:avLst/>
          </a:prstGeom>
          <a:solidFill>
            <a:srgbClr val="F0F9FF"/>
          </a:solidFill>
          <a:ln w="1524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AutoShape 2">
            <a:extLst>
              <a:ext uri="{FF2B5EF4-FFF2-40B4-BE49-F238E27FC236}">
                <a16:creationId xmlns:a16="http://schemas.microsoft.com/office/drawing/2014/main" id="{8F5B48F3-A080-4A3D-AB5F-91A1DF2306C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12" name="AutoShape 4">
            <a:extLst>
              <a:ext uri="{FF2B5EF4-FFF2-40B4-BE49-F238E27FC236}">
                <a16:creationId xmlns:a16="http://schemas.microsoft.com/office/drawing/2014/main" id="{873DC110-F963-431F-8485-A29825CD13FD}"/>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9" name="AutoShape 2">
            <a:extLst>
              <a:ext uri="{FF2B5EF4-FFF2-40B4-BE49-F238E27FC236}">
                <a16:creationId xmlns:a16="http://schemas.microsoft.com/office/drawing/2014/main" id="{6ACECAFB-75A3-40BF-9423-1FF2AD01BFBA}"/>
              </a:ext>
            </a:extLst>
          </p:cNvPr>
          <p:cNvSpPr>
            <a:spLocks noChangeAspect="1" noChangeArrowheads="1"/>
          </p:cNvSpPr>
          <p:nvPr/>
        </p:nvSpPr>
        <p:spPr bwMode="auto">
          <a:xfrm>
            <a:off x="6248400" y="3581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4" name="Picture 13">
            <a:extLst>
              <a:ext uri="{FF2B5EF4-FFF2-40B4-BE49-F238E27FC236}">
                <a16:creationId xmlns:a16="http://schemas.microsoft.com/office/drawing/2014/main" id="{52CB6AF2-A003-4277-BBCF-DF7B67C5AF6C}"/>
              </a:ext>
            </a:extLst>
          </p:cNvPr>
          <p:cNvPicPr>
            <a:picLocks noChangeAspect="1"/>
          </p:cNvPicPr>
          <p:nvPr/>
        </p:nvPicPr>
        <p:blipFill>
          <a:blip r:embed="rId2"/>
          <a:stretch>
            <a:fillRect/>
          </a:stretch>
        </p:blipFill>
        <p:spPr>
          <a:xfrm>
            <a:off x="6431280" y="1452116"/>
            <a:ext cx="4879769" cy="4879769"/>
          </a:xfrm>
          <a:prstGeom prst="rect">
            <a:avLst/>
          </a:prstGeom>
        </p:spPr>
      </p:pic>
      <p:pic>
        <p:nvPicPr>
          <p:cNvPr id="15" name="Picture 14">
            <a:extLst>
              <a:ext uri="{FF2B5EF4-FFF2-40B4-BE49-F238E27FC236}">
                <a16:creationId xmlns:a16="http://schemas.microsoft.com/office/drawing/2014/main" id="{F33E5B94-168E-432E-9AAA-2AC55C6F020D}"/>
              </a:ext>
            </a:extLst>
          </p:cNvPr>
          <p:cNvPicPr>
            <a:picLocks noChangeAspect="1"/>
          </p:cNvPicPr>
          <p:nvPr/>
        </p:nvPicPr>
        <p:blipFill>
          <a:blip r:embed="rId3"/>
          <a:stretch>
            <a:fillRect/>
          </a:stretch>
        </p:blipFill>
        <p:spPr>
          <a:xfrm>
            <a:off x="934291" y="3338697"/>
            <a:ext cx="4879769" cy="2788439"/>
          </a:xfrm>
          <a:prstGeom prst="rect">
            <a:avLst/>
          </a:prstGeom>
        </p:spPr>
      </p:pic>
    </p:spTree>
    <p:extLst>
      <p:ext uri="{BB962C8B-B14F-4D97-AF65-F5344CB8AC3E}">
        <p14:creationId xmlns:p14="http://schemas.microsoft.com/office/powerpoint/2010/main" val="32123594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KẾT QUẢ THỰC NGHIỆM ĐỈNH CAO</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06 / 11</a:t>
            </a:r>
          </a:p>
        </p:txBody>
      </p:sp>
      <p:sp>
        <p:nvSpPr>
          <p:cNvPr id="5" name="TextBox 4"/>
          <p:cNvSpPr txBox="1"/>
          <p:nvPr/>
        </p:nvSpPr>
        <p:spPr>
          <a:xfrm>
            <a:off x="731520" y="685800"/>
            <a:ext cx="10698480" cy="446276"/>
          </a:xfrm>
          <a:prstGeom prst="rect">
            <a:avLst/>
          </a:prstGeom>
          <a:noFill/>
        </p:spPr>
        <p:txBody>
          <a:bodyPr wrap="square">
            <a:spAutoFit/>
          </a:bodyPr>
          <a:lstStyle/>
          <a:p>
            <a:pPr>
              <a:defRPr sz="2300" b="1">
                <a:solidFill>
                  <a:srgbClr val="0F172A"/>
                </a:solidFill>
                <a:latin typeface="Segoe UI"/>
              </a:defRPr>
            </a:pPr>
            <a:r>
              <a:rPr lang="en-US" dirty="0"/>
              <a:t>KẾT QUẢ: </a:t>
            </a:r>
            <a:r>
              <a:rPr lang="en-US" dirty="0" err="1"/>
              <a:t>Đổi</a:t>
            </a:r>
            <a:r>
              <a:rPr lang="en-US" dirty="0"/>
              <a:t> font + prompt </a:t>
            </a:r>
            <a:r>
              <a:rPr lang="en-US" dirty="0" err="1"/>
              <a:t>chỉ</a:t>
            </a:r>
            <a:r>
              <a:rPr lang="en-US" dirty="0"/>
              <a:t> </a:t>
            </a:r>
            <a:r>
              <a:rPr lang="en-US" dirty="0" err="1"/>
              <a:t>định</a:t>
            </a:r>
            <a:r>
              <a:rPr lang="en-US" dirty="0"/>
              <a:t> </a:t>
            </a:r>
            <a:r>
              <a:rPr lang="en-US" dirty="0" err="1"/>
              <a:t>ánh</a:t>
            </a:r>
            <a:r>
              <a:rPr lang="en-US" dirty="0"/>
              <a:t> </a:t>
            </a:r>
            <a:r>
              <a:rPr lang="en-US" dirty="0" err="1"/>
              <a:t>sáng</a:t>
            </a:r>
            <a:r>
              <a:rPr lang="en-US" dirty="0"/>
              <a:t>, in </a:t>
            </a:r>
            <a:r>
              <a:rPr lang="en-US" dirty="0" err="1"/>
              <a:t>chìm</a:t>
            </a:r>
            <a:r>
              <a:rPr lang="en-US" dirty="0"/>
              <a:t> </a:t>
            </a:r>
            <a:r>
              <a:rPr lang="en-US" dirty="0" err="1"/>
              <a:t>nổi</a:t>
            </a:r>
            <a:endParaRPr dirty="0"/>
          </a:p>
        </p:txBody>
      </p:sp>
      <p:sp>
        <p:nvSpPr>
          <p:cNvPr id="6" name="Rounded Rectangle 5"/>
          <p:cNvSpPr/>
          <p:nvPr/>
        </p:nvSpPr>
        <p:spPr>
          <a:xfrm>
            <a:off x="731520" y="1645920"/>
            <a:ext cx="525780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874520"/>
            <a:ext cx="4800600" cy="1769715"/>
          </a:xfrm>
          <a:prstGeom prst="rect">
            <a:avLst/>
          </a:prstGeom>
          <a:noFill/>
        </p:spPr>
        <p:txBody>
          <a:bodyPr wrap="square">
            <a:spAutoFit/>
          </a:bodyPr>
          <a:lstStyle/>
          <a:p>
            <a:pPr>
              <a:defRPr sz="1500" b="1">
                <a:solidFill>
                  <a:srgbClr val="0284C7"/>
                </a:solidFill>
              </a:defRPr>
            </a:pPr>
            <a:r>
              <a:rPr lang="en-GB" dirty="0" err="1"/>
              <a:t>Với</a:t>
            </a:r>
            <a:r>
              <a:rPr lang="en-GB" dirty="0"/>
              <a:t> text </a:t>
            </a:r>
            <a:r>
              <a:rPr lang="en-GB" dirty="0" err="1"/>
              <a:t>dài</a:t>
            </a:r>
            <a:r>
              <a:rPr lang="en-GB" dirty="0"/>
              <a:t>:</a:t>
            </a:r>
          </a:p>
          <a:p>
            <a:pPr>
              <a:spcBef>
                <a:spcPts val="1200"/>
              </a:spcBef>
              <a:defRPr sz="1200">
                <a:solidFill>
                  <a:srgbClr val="0F172A"/>
                </a:solidFill>
              </a:defRPr>
            </a:pPr>
            <a:r>
              <a:rPr lang="vi-VN" dirty="0"/>
              <a:t>• Ảnh chụp cô giáo Việt Nam duyên dáng mặc áo dài truyền thống thướt tha đứng nghiêng người bên chiếc bảng đen lớp học ở tiền cảnh, tay cầm viên phấn trắng nắn nót viết từng dòng thơ chữ phấn trắng thanh thoát mềm mại trên mặt bảng, ánh nắng sớm vàng ấm rọi qua khung cửa sổ lớp học, bụi phấn bay lơ lửng trong không gian hoài niệm ấm áp, phong cách nhiếp ảnh điện ảnh, tương phản ánh sáng studio nghệ thuật, siêu chi tiết</a:t>
            </a:r>
          </a:p>
        </p:txBody>
      </p:sp>
      <p:sp>
        <p:nvSpPr>
          <p:cNvPr id="8" name="Rounded Rectangle 7"/>
          <p:cNvSpPr/>
          <p:nvPr/>
        </p:nvSpPr>
        <p:spPr>
          <a:xfrm>
            <a:off x="6172200" y="1645920"/>
            <a:ext cx="5257800" cy="4389120"/>
          </a:xfrm>
          <a:prstGeom prst="roundRect">
            <a:avLst/>
          </a:prstGeom>
          <a:solidFill>
            <a:srgbClr val="F0F9FF"/>
          </a:solidFill>
          <a:ln w="1524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AutoShape 2">
            <a:extLst>
              <a:ext uri="{FF2B5EF4-FFF2-40B4-BE49-F238E27FC236}">
                <a16:creationId xmlns:a16="http://schemas.microsoft.com/office/drawing/2014/main" id="{8F5B48F3-A080-4A3D-AB5F-91A1DF2306C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12" name="AutoShape 4">
            <a:extLst>
              <a:ext uri="{FF2B5EF4-FFF2-40B4-BE49-F238E27FC236}">
                <a16:creationId xmlns:a16="http://schemas.microsoft.com/office/drawing/2014/main" id="{873DC110-F963-431F-8485-A29825CD13FD}"/>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9" name="AutoShape 2">
            <a:extLst>
              <a:ext uri="{FF2B5EF4-FFF2-40B4-BE49-F238E27FC236}">
                <a16:creationId xmlns:a16="http://schemas.microsoft.com/office/drawing/2014/main" id="{6ACECAFB-75A3-40BF-9423-1FF2AD01BFBA}"/>
              </a:ext>
            </a:extLst>
          </p:cNvPr>
          <p:cNvSpPr>
            <a:spLocks noChangeAspect="1" noChangeArrowheads="1"/>
          </p:cNvSpPr>
          <p:nvPr/>
        </p:nvSpPr>
        <p:spPr bwMode="auto">
          <a:xfrm>
            <a:off x="6248400" y="3581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11" name="AutoShape 2">
            <a:extLst>
              <a:ext uri="{FF2B5EF4-FFF2-40B4-BE49-F238E27FC236}">
                <a16:creationId xmlns:a16="http://schemas.microsoft.com/office/drawing/2014/main" id="{91032FA4-C732-4144-A9D4-DA16991A28A2}"/>
              </a:ext>
            </a:extLst>
          </p:cNvPr>
          <p:cNvSpPr>
            <a:spLocks noChangeAspect="1" noChangeArrowheads="1"/>
          </p:cNvSpPr>
          <p:nvPr/>
        </p:nvSpPr>
        <p:spPr bwMode="auto">
          <a:xfrm>
            <a:off x="6400800" y="3733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3" name="Picture 12">
            <a:extLst>
              <a:ext uri="{FF2B5EF4-FFF2-40B4-BE49-F238E27FC236}">
                <a16:creationId xmlns:a16="http://schemas.microsoft.com/office/drawing/2014/main" id="{E4E13A43-D39C-4858-A961-163ACD7606B5}"/>
              </a:ext>
            </a:extLst>
          </p:cNvPr>
          <p:cNvPicPr>
            <a:picLocks noChangeAspect="1"/>
          </p:cNvPicPr>
          <p:nvPr/>
        </p:nvPicPr>
        <p:blipFill>
          <a:blip r:embed="rId2"/>
          <a:stretch>
            <a:fillRect/>
          </a:stretch>
        </p:blipFill>
        <p:spPr>
          <a:xfrm>
            <a:off x="612569" y="3644235"/>
            <a:ext cx="5327765" cy="3044437"/>
          </a:xfrm>
          <a:prstGeom prst="rect">
            <a:avLst/>
          </a:prstGeom>
        </p:spPr>
      </p:pic>
      <p:sp>
        <p:nvSpPr>
          <p:cNvPr id="16" name="AutoShape 4">
            <a:extLst>
              <a:ext uri="{FF2B5EF4-FFF2-40B4-BE49-F238E27FC236}">
                <a16:creationId xmlns:a16="http://schemas.microsoft.com/office/drawing/2014/main" id="{339A1772-0EB2-4751-ACEB-DF06F8E26E67}"/>
              </a:ext>
            </a:extLst>
          </p:cNvPr>
          <p:cNvSpPr>
            <a:spLocks noChangeAspect="1" noChangeArrowheads="1"/>
          </p:cNvSpPr>
          <p:nvPr/>
        </p:nvSpPr>
        <p:spPr bwMode="auto">
          <a:xfrm>
            <a:off x="6553200" y="38862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7" name="Picture 16">
            <a:extLst>
              <a:ext uri="{FF2B5EF4-FFF2-40B4-BE49-F238E27FC236}">
                <a16:creationId xmlns:a16="http://schemas.microsoft.com/office/drawing/2014/main" id="{81E01E08-84EC-4C23-8B38-D3A3CAA3B5D7}"/>
              </a:ext>
            </a:extLst>
          </p:cNvPr>
          <p:cNvPicPr>
            <a:picLocks noChangeAspect="1"/>
          </p:cNvPicPr>
          <p:nvPr/>
        </p:nvPicPr>
        <p:blipFill>
          <a:blip r:embed="rId3"/>
          <a:stretch>
            <a:fillRect/>
          </a:stretch>
        </p:blipFill>
        <p:spPr>
          <a:xfrm>
            <a:off x="6248400" y="1264722"/>
            <a:ext cx="5326578" cy="5326578"/>
          </a:xfrm>
          <a:prstGeom prst="rect">
            <a:avLst/>
          </a:prstGeom>
        </p:spPr>
      </p:pic>
    </p:spTree>
    <p:extLst>
      <p:ext uri="{BB962C8B-B14F-4D97-AF65-F5344CB8AC3E}">
        <p14:creationId xmlns:p14="http://schemas.microsoft.com/office/powerpoint/2010/main" val="6976515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4862944"/>
            <a:ext cx="2979312" cy="1995055"/>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KẾT QUẢ THỰC NGHIỆM ĐỈNH CAO</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06 / 11</a:t>
            </a:r>
          </a:p>
        </p:txBody>
      </p:sp>
      <p:sp>
        <p:nvSpPr>
          <p:cNvPr id="5" name="TextBox 4"/>
          <p:cNvSpPr txBox="1"/>
          <p:nvPr/>
        </p:nvSpPr>
        <p:spPr>
          <a:xfrm>
            <a:off x="731520" y="685800"/>
            <a:ext cx="10698480" cy="446276"/>
          </a:xfrm>
          <a:prstGeom prst="rect">
            <a:avLst/>
          </a:prstGeom>
          <a:noFill/>
        </p:spPr>
        <p:txBody>
          <a:bodyPr wrap="square">
            <a:spAutoFit/>
          </a:bodyPr>
          <a:lstStyle/>
          <a:p>
            <a:pPr>
              <a:defRPr sz="2300" b="1">
                <a:solidFill>
                  <a:srgbClr val="0F172A"/>
                </a:solidFill>
                <a:latin typeface="Segoe UI"/>
              </a:defRPr>
            </a:pPr>
            <a:r>
              <a:rPr lang="en-US" dirty="0"/>
              <a:t>KẾT QUẢ: </a:t>
            </a:r>
            <a:r>
              <a:rPr lang="en-US" dirty="0" err="1"/>
              <a:t>Đổi</a:t>
            </a:r>
            <a:r>
              <a:rPr lang="en-US" dirty="0"/>
              <a:t> font + prompt </a:t>
            </a:r>
            <a:r>
              <a:rPr lang="en-US" dirty="0" err="1"/>
              <a:t>chỉ</a:t>
            </a:r>
            <a:r>
              <a:rPr lang="en-US" dirty="0"/>
              <a:t> </a:t>
            </a:r>
            <a:r>
              <a:rPr lang="en-US" dirty="0" err="1"/>
              <a:t>định</a:t>
            </a:r>
            <a:r>
              <a:rPr lang="en-US" dirty="0"/>
              <a:t> </a:t>
            </a:r>
            <a:r>
              <a:rPr lang="en-US" dirty="0" err="1"/>
              <a:t>ánh</a:t>
            </a:r>
            <a:r>
              <a:rPr lang="en-US" dirty="0"/>
              <a:t> </a:t>
            </a:r>
            <a:r>
              <a:rPr lang="en-US" dirty="0" err="1"/>
              <a:t>sáng</a:t>
            </a:r>
            <a:r>
              <a:rPr lang="en-US" dirty="0"/>
              <a:t>, in </a:t>
            </a:r>
            <a:r>
              <a:rPr lang="en-US" dirty="0" err="1"/>
              <a:t>chìm</a:t>
            </a:r>
            <a:r>
              <a:rPr lang="en-US" dirty="0"/>
              <a:t> </a:t>
            </a:r>
            <a:r>
              <a:rPr lang="en-US" dirty="0" err="1"/>
              <a:t>nổi</a:t>
            </a:r>
            <a:endParaRPr dirty="0"/>
          </a:p>
        </p:txBody>
      </p:sp>
      <p:sp>
        <p:nvSpPr>
          <p:cNvPr id="6" name="Rounded Rectangle 5"/>
          <p:cNvSpPr/>
          <p:nvPr/>
        </p:nvSpPr>
        <p:spPr>
          <a:xfrm>
            <a:off x="632460" y="1194911"/>
            <a:ext cx="525780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960120" y="1369819"/>
            <a:ext cx="4800600" cy="1585049"/>
          </a:xfrm>
          <a:prstGeom prst="rect">
            <a:avLst/>
          </a:prstGeom>
          <a:noFill/>
        </p:spPr>
        <p:txBody>
          <a:bodyPr wrap="square">
            <a:spAutoFit/>
          </a:bodyPr>
          <a:lstStyle/>
          <a:p>
            <a:pPr>
              <a:defRPr sz="1500" b="1">
                <a:solidFill>
                  <a:srgbClr val="0284C7"/>
                </a:solidFill>
              </a:defRPr>
            </a:pPr>
            <a:r>
              <a:rPr lang="en-GB" dirty="0" err="1"/>
              <a:t>Với</a:t>
            </a:r>
            <a:r>
              <a:rPr lang="en-GB" dirty="0"/>
              <a:t> </a:t>
            </a:r>
            <a:r>
              <a:rPr lang="en-GB" dirty="0" err="1"/>
              <a:t>ảnh</a:t>
            </a:r>
            <a:r>
              <a:rPr lang="en-GB" dirty="0"/>
              <a:t> </a:t>
            </a:r>
            <a:r>
              <a:rPr lang="en-GB" dirty="0" err="1"/>
              <a:t>tham</a:t>
            </a:r>
            <a:r>
              <a:rPr lang="en-GB" dirty="0"/>
              <a:t> </a:t>
            </a:r>
            <a:r>
              <a:rPr lang="en-GB" dirty="0" err="1"/>
              <a:t>chiếu</a:t>
            </a:r>
            <a:r>
              <a:rPr lang="en-GB" dirty="0"/>
              <a:t> </a:t>
            </a:r>
            <a:r>
              <a:rPr lang="en-GB" dirty="0" err="1"/>
              <a:t>sản</a:t>
            </a:r>
            <a:r>
              <a:rPr lang="en-GB" dirty="0"/>
              <a:t> </a:t>
            </a:r>
            <a:r>
              <a:rPr lang="en-GB" dirty="0" err="1"/>
              <a:t>phẩm</a:t>
            </a:r>
            <a:r>
              <a:rPr lang="en-GB" dirty="0"/>
              <a:t>:</a:t>
            </a:r>
          </a:p>
          <a:p>
            <a:pPr>
              <a:spcBef>
                <a:spcPts val="1200"/>
              </a:spcBef>
              <a:defRPr sz="1200">
                <a:solidFill>
                  <a:srgbClr val="0F172A"/>
                </a:solidFill>
              </a:defRPr>
            </a:pPr>
            <a:r>
              <a:rPr lang="vi-VN" dirty="0"/>
              <a:t>• Ảnh chụp quảng cáo thương mại cho gói mì ăn liền màu hồng đặt trên bàn gỗ ấm cúng ở giữa, bên cạnh là một bát mì tôm chua cay nóng hổi bốc khói nghi ngút có tôm đỏ tươi và lát chanh xanh mọng nước, biển hiệu gỗ vintage treo phía trên tường, dòng chữ dập nổi mạ vàng đồng rực rỡ sắc nét, ánh sáng studio ẩm thực ấm áp, phong cách nghệ thuật quảng cáo cao cấp</a:t>
            </a:r>
          </a:p>
        </p:txBody>
      </p:sp>
      <p:sp>
        <p:nvSpPr>
          <p:cNvPr id="8" name="Rounded Rectangle 7"/>
          <p:cNvSpPr/>
          <p:nvPr/>
        </p:nvSpPr>
        <p:spPr>
          <a:xfrm>
            <a:off x="6172200" y="1645920"/>
            <a:ext cx="5257800" cy="4389120"/>
          </a:xfrm>
          <a:prstGeom prst="roundRect">
            <a:avLst/>
          </a:prstGeom>
          <a:solidFill>
            <a:srgbClr val="F0F9FF"/>
          </a:solidFill>
          <a:ln w="1524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AutoShape 2">
            <a:extLst>
              <a:ext uri="{FF2B5EF4-FFF2-40B4-BE49-F238E27FC236}">
                <a16:creationId xmlns:a16="http://schemas.microsoft.com/office/drawing/2014/main" id="{8F5B48F3-A080-4A3D-AB5F-91A1DF2306C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12" name="AutoShape 4">
            <a:extLst>
              <a:ext uri="{FF2B5EF4-FFF2-40B4-BE49-F238E27FC236}">
                <a16:creationId xmlns:a16="http://schemas.microsoft.com/office/drawing/2014/main" id="{873DC110-F963-431F-8485-A29825CD13FD}"/>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9" name="AutoShape 2">
            <a:extLst>
              <a:ext uri="{FF2B5EF4-FFF2-40B4-BE49-F238E27FC236}">
                <a16:creationId xmlns:a16="http://schemas.microsoft.com/office/drawing/2014/main" id="{6ACECAFB-75A3-40BF-9423-1FF2AD01BFBA}"/>
              </a:ext>
            </a:extLst>
          </p:cNvPr>
          <p:cNvSpPr>
            <a:spLocks noChangeAspect="1" noChangeArrowheads="1"/>
          </p:cNvSpPr>
          <p:nvPr/>
        </p:nvSpPr>
        <p:spPr bwMode="auto">
          <a:xfrm>
            <a:off x="6248400" y="3581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11" name="AutoShape 2">
            <a:extLst>
              <a:ext uri="{FF2B5EF4-FFF2-40B4-BE49-F238E27FC236}">
                <a16:creationId xmlns:a16="http://schemas.microsoft.com/office/drawing/2014/main" id="{91032FA4-C732-4144-A9D4-DA16991A28A2}"/>
              </a:ext>
            </a:extLst>
          </p:cNvPr>
          <p:cNvSpPr>
            <a:spLocks noChangeAspect="1" noChangeArrowheads="1"/>
          </p:cNvSpPr>
          <p:nvPr/>
        </p:nvSpPr>
        <p:spPr bwMode="auto">
          <a:xfrm>
            <a:off x="6400800" y="3733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16" name="AutoShape 4">
            <a:extLst>
              <a:ext uri="{FF2B5EF4-FFF2-40B4-BE49-F238E27FC236}">
                <a16:creationId xmlns:a16="http://schemas.microsoft.com/office/drawing/2014/main" id="{339A1772-0EB2-4751-ACEB-DF06F8E26E67}"/>
              </a:ext>
            </a:extLst>
          </p:cNvPr>
          <p:cNvSpPr>
            <a:spLocks noChangeAspect="1" noChangeArrowheads="1"/>
          </p:cNvSpPr>
          <p:nvPr/>
        </p:nvSpPr>
        <p:spPr bwMode="auto">
          <a:xfrm>
            <a:off x="6553200" y="38862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14" name="AutoShape 2">
            <a:extLst>
              <a:ext uri="{FF2B5EF4-FFF2-40B4-BE49-F238E27FC236}">
                <a16:creationId xmlns:a16="http://schemas.microsoft.com/office/drawing/2014/main" id="{437C7027-0D39-4583-8E9C-1C6CFB09B5B0}"/>
              </a:ext>
            </a:extLst>
          </p:cNvPr>
          <p:cNvSpPr>
            <a:spLocks noChangeAspect="1" noChangeArrowheads="1"/>
          </p:cNvSpPr>
          <p:nvPr/>
        </p:nvSpPr>
        <p:spPr bwMode="auto">
          <a:xfrm>
            <a:off x="6705600" y="4038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5" name="Picture 14">
            <a:extLst>
              <a:ext uri="{FF2B5EF4-FFF2-40B4-BE49-F238E27FC236}">
                <a16:creationId xmlns:a16="http://schemas.microsoft.com/office/drawing/2014/main" id="{3EB092A1-5A9D-4E81-A92B-46B606EA4380}"/>
              </a:ext>
            </a:extLst>
          </p:cNvPr>
          <p:cNvPicPr>
            <a:picLocks noChangeAspect="1"/>
          </p:cNvPicPr>
          <p:nvPr/>
        </p:nvPicPr>
        <p:blipFill>
          <a:blip r:embed="rId2"/>
          <a:stretch>
            <a:fillRect/>
          </a:stretch>
        </p:blipFill>
        <p:spPr>
          <a:xfrm>
            <a:off x="1013856" y="2988733"/>
            <a:ext cx="4180114" cy="1828800"/>
          </a:xfrm>
          <a:prstGeom prst="rect">
            <a:avLst/>
          </a:prstGeom>
        </p:spPr>
      </p:pic>
      <p:sp>
        <p:nvSpPr>
          <p:cNvPr id="18" name="AutoShape 4">
            <a:extLst>
              <a:ext uri="{FF2B5EF4-FFF2-40B4-BE49-F238E27FC236}">
                <a16:creationId xmlns:a16="http://schemas.microsoft.com/office/drawing/2014/main" id="{0180A859-CB4D-432B-A0C3-9330D6294F09}"/>
              </a:ext>
            </a:extLst>
          </p:cNvPr>
          <p:cNvSpPr>
            <a:spLocks noChangeAspect="1" noChangeArrowheads="1"/>
          </p:cNvSpPr>
          <p:nvPr/>
        </p:nvSpPr>
        <p:spPr bwMode="auto">
          <a:xfrm>
            <a:off x="6858000" y="4191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9" name="Picture 18">
            <a:extLst>
              <a:ext uri="{FF2B5EF4-FFF2-40B4-BE49-F238E27FC236}">
                <a16:creationId xmlns:a16="http://schemas.microsoft.com/office/drawing/2014/main" id="{5B35687E-A749-4A99-BB3D-E056478FE1EE}"/>
              </a:ext>
            </a:extLst>
          </p:cNvPr>
          <p:cNvPicPr>
            <a:picLocks noChangeAspect="1"/>
          </p:cNvPicPr>
          <p:nvPr/>
        </p:nvPicPr>
        <p:blipFill>
          <a:blip r:embed="rId3"/>
          <a:stretch>
            <a:fillRect/>
          </a:stretch>
        </p:blipFill>
        <p:spPr>
          <a:xfrm>
            <a:off x="6107529" y="1193649"/>
            <a:ext cx="5602778" cy="5602778"/>
          </a:xfrm>
          <a:prstGeom prst="rect">
            <a:avLst/>
          </a:prstGeom>
        </p:spPr>
      </p:pic>
      <p:pic>
        <p:nvPicPr>
          <p:cNvPr id="5128" name="Picture 8" descr="Thùng 30 gói mì Hảo Hảo tôm chua cay 75g">
            <a:extLst>
              <a:ext uri="{FF2B5EF4-FFF2-40B4-BE49-F238E27FC236}">
                <a16:creationId xmlns:a16="http://schemas.microsoft.com/office/drawing/2014/main" id="{09BA55A3-0DFF-4831-85A3-E0CD0C68F15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13947" y="4817682"/>
            <a:ext cx="2660073" cy="19950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4339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5890" y="283820"/>
            <a:ext cx="10698480" cy="338554"/>
          </a:xfrm>
          <a:prstGeom prst="rect">
            <a:avLst/>
          </a:prstGeom>
          <a:noFill/>
        </p:spPr>
        <p:txBody>
          <a:bodyPr wrap="square">
            <a:spAutoFit/>
          </a:bodyPr>
          <a:lstStyle/>
          <a:p>
            <a:pPr>
              <a:defRPr sz="1300" b="1">
                <a:solidFill>
                  <a:srgbClr val="0284C7"/>
                </a:solidFill>
                <a:latin typeface="Segoe UI"/>
              </a:defRPr>
            </a:pPr>
            <a:r>
              <a:rPr lang="en-US" sz="1600" dirty="0" err="1"/>
              <a:t>Một</a:t>
            </a:r>
            <a:r>
              <a:rPr lang="en-US" sz="1600" dirty="0"/>
              <a:t> </a:t>
            </a:r>
            <a:r>
              <a:rPr lang="en-US" sz="1600" dirty="0" err="1"/>
              <a:t>số</a:t>
            </a:r>
            <a:r>
              <a:rPr lang="en-US" sz="1600" dirty="0"/>
              <a:t> </a:t>
            </a:r>
            <a:r>
              <a:rPr lang="en-US" sz="1600" dirty="0" err="1"/>
              <a:t>kết</a:t>
            </a:r>
            <a:r>
              <a:rPr lang="en-US" sz="1600" dirty="0"/>
              <a:t> </a:t>
            </a:r>
            <a:r>
              <a:rPr lang="en-US" sz="1600" dirty="0" err="1"/>
              <a:t>quả</a:t>
            </a:r>
            <a:r>
              <a:rPr lang="en-US" sz="1600" dirty="0"/>
              <a:t> </a:t>
            </a:r>
            <a:r>
              <a:rPr lang="en-US" sz="1600" dirty="0" err="1"/>
              <a:t>khác</a:t>
            </a:r>
            <a:endParaRPr sz="1600" dirty="0"/>
          </a:p>
        </p:txBody>
      </p:sp>
      <p:pic>
        <p:nvPicPr>
          <p:cNvPr id="4" name="Picture 3">
            <a:extLst>
              <a:ext uri="{FF2B5EF4-FFF2-40B4-BE49-F238E27FC236}">
                <a16:creationId xmlns:a16="http://schemas.microsoft.com/office/drawing/2014/main" id="{32B752A4-5481-44B0-A1DE-1B49AD856ACA}"/>
              </a:ext>
            </a:extLst>
          </p:cNvPr>
          <p:cNvPicPr>
            <a:picLocks noChangeAspect="1"/>
          </p:cNvPicPr>
          <p:nvPr/>
        </p:nvPicPr>
        <p:blipFill>
          <a:blip r:embed="rId2"/>
          <a:stretch>
            <a:fillRect/>
          </a:stretch>
        </p:blipFill>
        <p:spPr>
          <a:xfrm>
            <a:off x="0" y="757646"/>
            <a:ext cx="3005273" cy="5342708"/>
          </a:xfrm>
          <a:prstGeom prst="rect">
            <a:avLst/>
          </a:prstGeom>
        </p:spPr>
      </p:pic>
      <p:pic>
        <p:nvPicPr>
          <p:cNvPr id="5" name="Picture 4">
            <a:extLst>
              <a:ext uri="{FF2B5EF4-FFF2-40B4-BE49-F238E27FC236}">
                <a16:creationId xmlns:a16="http://schemas.microsoft.com/office/drawing/2014/main" id="{1D1488CC-86A6-4480-8312-585F7DDF9D51}"/>
              </a:ext>
            </a:extLst>
          </p:cNvPr>
          <p:cNvPicPr>
            <a:picLocks noChangeAspect="1"/>
          </p:cNvPicPr>
          <p:nvPr/>
        </p:nvPicPr>
        <p:blipFill>
          <a:blip r:embed="rId3"/>
          <a:stretch>
            <a:fillRect/>
          </a:stretch>
        </p:blipFill>
        <p:spPr>
          <a:xfrm>
            <a:off x="3005273" y="757646"/>
            <a:ext cx="3005273" cy="5342708"/>
          </a:xfrm>
          <a:prstGeom prst="rect">
            <a:avLst/>
          </a:prstGeom>
        </p:spPr>
      </p:pic>
      <p:pic>
        <p:nvPicPr>
          <p:cNvPr id="6" name="Picture 5">
            <a:extLst>
              <a:ext uri="{FF2B5EF4-FFF2-40B4-BE49-F238E27FC236}">
                <a16:creationId xmlns:a16="http://schemas.microsoft.com/office/drawing/2014/main" id="{63829953-1A89-40F5-B2EB-8ED8B9348B92}"/>
              </a:ext>
            </a:extLst>
          </p:cNvPr>
          <p:cNvPicPr>
            <a:picLocks noChangeAspect="1"/>
          </p:cNvPicPr>
          <p:nvPr/>
        </p:nvPicPr>
        <p:blipFill>
          <a:blip r:embed="rId4"/>
          <a:stretch>
            <a:fillRect/>
          </a:stretch>
        </p:blipFill>
        <p:spPr>
          <a:xfrm>
            <a:off x="6025040" y="757646"/>
            <a:ext cx="3076080" cy="5468587"/>
          </a:xfrm>
          <a:prstGeom prst="rect">
            <a:avLst/>
          </a:prstGeom>
        </p:spPr>
      </p:pic>
      <p:pic>
        <p:nvPicPr>
          <p:cNvPr id="7" name="Picture 6">
            <a:extLst>
              <a:ext uri="{FF2B5EF4-FFF2-40B4-BE49-F238E27FC236}">
                <a16:creationId xmlns:a16="http://schemas.microsoft.com/office/drawing/2014/main" id="{27A565BB-40CA-4B67-BD57-17316B8B27F8}"/>
              </a:ext>
            </a:extLst>
          </p:cNvPr>
          <p:cNvPicPr>
            <a:picLocks noChangeAspect="1"/>
          </p:cNvPicPr>
          <p:nvPr/>
        </p:nvPicPr>
        <p:blipFill>
          <a:blip r:embed="rId5"/>
          <a:stretch>
            <a:fillRect/>
          </a:stretch>
        </p:blipFill>
        <p:spPr>
          <a:xfrm>
            <a:off x="9130109" y="757645"/>
            <a:ext cx="3076080" cy="5468587"/>
          </a:xfrm>
          <a:prstGeom prst="rect">
            <a:avLst/>
          </a:prstGeom>
        </p:spPr>
      </p:pic>
    </p:spTree>
    <p:extLst>
      <p:ext uri="{BB962C8B-B14F-4D97-AF65-F5344CB8AC3E}">
        <p14:creationId xmlns:p14="http://schemas.microsoft.com/office/powerpoint/2010/main" val="738363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BẢN CHẤT CƠ CHẾ SOFTMAX</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08 / 11</a:t>
            </a:r>
          </a:p>
        </p:txBody>
      </p:sp>
      <p:sp>
        <p:nvSpPr>
          <p:cNvPr id="5" name="TextBox 4"/>
          <p:cNvSpPr txBox="1"/>
          <p:nvPr/>
        </p:nvSpPr>
        <p:spPr>
          <a:xfrm>
            <a:off x="731520" y="685800"/>
            <a:ext cx="10698480" cy="731520"/>
          </a:xfrm>
          <a:prstGeom prst="rect">
            <a:avLst/>
          </a:prstGeom>
          <a:noFill/>
        </p:spPr>
        <p:txBody>
          <a:bodyPr wrap="square">
            <a:spAutoFit/>
          </a:bodyPr>
          <a:lstStyle/>
          <a:p>
            <a:pPr>
              <a:defRPr sz="2300" b="1">
                <a:solidFill>
                  <a:srgbClr val="0F172A"/>
                </a:solidFill>
                <a:latin typeface="Segoe UI"/>
              </a:defRPr>
            </a:pPr>
            <a:r>
              <a:t>Thách Thức Kỹ Thuật: Trạng Thái Cô Lập (t&lt;=40) vs Cạnh Tranh Đồng Thời</a:t>
            </a:r>
          </a:p>
        </p:txBody>
      </p:sp>
      <p:sp>
        <p:nvSpPr>
          <p:cNvPr id="6" name="Rounded Rectangle 5"/>
          <p:cNvSpPr/>
          <p:nvPr/>
        </p:nvSpPr>
        <p:spPr>
          <a:xfrm>
            <a:off x="731520" y="1645920"/>
            <a:ext cx="525780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874520"/>
            <a:ext cx="4800600" cy="3931920"/>
          </a:xfrm>
          <a:prstGeom prst="rect">
            <a:avLst/>
          </a:prstGeom>
          <a:noFill/>
        </p:spPr>
        <p:txBody>
          <a:bodyPr wrap="square">
            <a:spAutoFit/>
          </a:bodyPr>
          <a:lstStyle/>
          <a:p>
            <a:pPr>
              <a:defRPr sz="1400" b="1">
                <a:solidFill>
                  <a:srgbClr val="059669"/>
                </a:solidFill>
              </a:defRPr>
            </a:pPr>
            <a:r>
              <a:t>🟢 TRẠNG THÁI CÔ LẬP (PROBE SUITE 1)</a:t>
            </a:r>
          </a:p>
          <a:p>
            <a:pPr>
              <a:spcBef>
                <a:spcPts val="1000"/>
              </a:spcBef>
              <a:defRPr sz="1200">
                <a:solidFill>
                  <a:srgbClr val="0F172A"/>
                </a:solidFill>
              </a:defRPr>
            </a:pPr>
            <a:r>
              <a:t>• Khi chạy từng kênh đơn lẻ:</a:t>
            </a:r>
            <a:br/>
            <a:r>
              <a:t>  Kênh t=10.0, 20.0, 30.0, 40.0 ĐỀU VẼ CHỮ 3D ĐẸP 100% CHUẨN XÁC.</a:t>
            </a:r>
            <a:br/>
            <a:r>
              <a:t>• Chỉ bắt đầu suy hao góc quay RoPE tại t &gt;= 50.0.</a:t>
            </a:r>
            <a:br/>
            <a:br/>
            <a:r>
              <a:t>👉 Ý nghĩa: Mô hình Base ĐÃ CÓ SẴN năng lực biểu diễn chữ ở dải t &lt;= 40.0!</a:t>
            </a:r>
          </a:p>
        </p:txBody>
      </p:sp>
      <p:sp>
        <p:nvSpPr>
          <p:cNvPr id="8" name="Rounded Rectangle 7"/>
          <p:cNvSpPr/>
          <p:nvPr/>
        </p:nvSpPr>
        <p:spPr>
          <a:xfrm>
            <a:off x="6172200" y="1645920"/>
            <a:ext cx="5257800" cy="4389120"/>
          </a:xfrm>
          <a:prstGeom prst="roundRect">
            <a:avLst/>
          </a:prstGeom>
          <a:solidFill>
            <a:srgbClr val="F0F9FF"/>
          </a:solidFill>
          <a:ln w="1524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0" y="1874520"/>
            <a:ext cx="4800600" cy="3931920"/>
          </a:xfrm>
          <a:prstGeom prst="rect">
            <a:avLst/>
          </a:prstGeom>
          <a:noFill/>
        </p:spPr>
        <p:txBody>
          <a:bodyPr wrap="square">
            <a:spAutoFit/>
          </a:bodyPr>
          <a:lstStyle/>
          <a:p>
            <a:pPr>
              <a:defRPr sz="1400" b="1">
                <a:solidFill>
                  <a:srgbClr val="D97706"/>
                </a:solidFill>
              </a:defRPr>
            </a:pPr>
            <a:r>
              <a:t>🔴 TRẠNG THÁI CẠNH TRANH (PROBE SUITE 2)</a:t>
            </a:r>
          </a:p>
          <a:p>
            <a:pPr>
              <a:spcBef>
                <a:spcPts val="1000"/>
              </a:spcBef>
              <a:defRPr sz="1200">
                <a:solidFill>
                  <a:srgbClr val="0F172A"/>
                </a:solidFill>
              </a:defRPr>
            </a:pPr>
            <a:r>
              <a:t>• Khi đưa đồng thời 3-4 Slot:</a:t>
            </a:r>
            <a:br/>
            <a:r>
              <a:t>  Attention Heads bị hiện tượng Tranh chấp &amp; Tràn kênh (Cross-Slot Bleeding) -&gt; Slot giữa bị đè mất.</a:t>
            </a:r>
            <a:br/>
            <a:br/>
            <a:r>
              <a:t>• Ảnh sản phẩm (4096 tokens) luôn thắng thế nhờ Token Mass Dominance.</a:t>
            </a:r>
            <a:br/>
            <a:br/>
            <a:r>
              <a:t>👉 Mục tiêu LoRA Phase 3: Dạy DiT phân luồng Attention độc lập giữa các slot!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BẰNG CHỨNG THỰC NGHIỆM TRỰC QUAN</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09 / 11</a:t>
            </a:r>
          </a:p>
        </p:txBody>
      </p:sp>
      <p:sp>
        <p:nvSpPr>
          <p:cNvPr id="5" name="TextBox 4"/>
          <p:cNvSpPr txBox="1"/>
          <p:nvPr/>
        </p:nvSpPr>
        <p:spPr>
          <a:xfrm>
            <a:off x="731520" y="685800"/>
            <a:ext cx="10698480" cy="731520"/>
          </a:xfrm>
          <a:prstGeom prst="rect">
            <a:avLst/>
          </a:prstGeom>
          <a:noFill/>
        </p:spPr>
        <p:txBody>
          <a:bodyPr wrap="square">
            <a:spAutoFit/>
          </a:bodyPr>
          <a:lstStyle/>
          <a:p>
            <a:pPr>
              <a:defRPr sz="2300" b="1">
                <a:solidFill>
                  <a:srgbClr val="0F172A"/>
                </a:solidFill>
                <a:latin typeface="Segoe UI"/>
              </a:defRPr>
            </a:pPr>
            <a:r>
              <a:t>Thực Nghiệm Đối Chứng Đa Mô Hình (Fal.ai FLUX 9B vs Gemini 2.0)</a:t>
            </a:r>
          </a:p>
        </p:txBody>
      </p:sp>
      <p:sp>
        <p:nvSpPr>
          <p:cNvPr id="6" name="Rounded Rectangle 5"/>
          <p:cNvSpPr/>
          <p:nvPr/>
        </p:nvSpPr>
        <p:spPr>
          <a:xfrm>
            <a:off x="731520" y="1645920"/>
            <a:ext cx="525780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al_ai_9b_test.png"/>
          <p:cNvPicPr>
            <a:picLocks noChangeAspect="1"/>
          </p:cNvPicPr>
          <p:nvPr/>
        </p:nvPicPr>
        <p:blipFill>
          <a:blip r:embed="rId2"/>
          <a:stretch>
            <a:fillRect/>
          </a:stretch>
        </p:blipFill>
        <p:spPr>
          <a:xfrm>
            <a:off x="914400" y="1828800"/>
            <a:ext cx="4892040" cy="2743200"/>
          </a:xfrm>
          <a:prstGeom prst="rect">
            <a:avLst/>
          </a:prstGeom>
        </p:spPr>
      </p:pic>
      <p:sp>
        <p:nvSpPr>
          <p:cNvPr id="8" name="TextBox 7"/>
          <p:cNvSpPr txBox="1"/>
          <p:nvPr/>
        </p:nvSpPr>
        <p:spPr>
          <a:xfrm>
            <a:off x="914400" y="4663440"/>
            <a:ext cx="4892040" cy="1188720"/>
          </a:xfrm>
          <a:prstGeom prst="rect">
            <a:avLst/>
          </a:prstGeom>
          <a:noFill/>
        </p:spPr>
        <p:txBody>
          <a:bodyPr wrap="square">
            <a:spAutoFit/>
          </a:bodyPr>
          <a:lstStyle/>
          <a:p>
            <a:pPr>
              <a:defRPr sz="1100">
                <a:solidFill>
                  <a:srgbClr val="D97706"/>
                </a:solidFill>
              </a:defRPr>
            </a:pPr>
            <a:r>
              <a:t>⚠️ FLUX.2 KLEIN 9B (ZERO-SHOT): Giữ được t=10 &amp; t=20, nhưng sụp đổ ở t=30 thành chữ rác 'ÔUÔ-DAT!' do bão hòa Attention.</a:t>
            </a:r>
          </a:p>
        </p:txBody>
      </p:sp>
      <p:sp>
        <p:nvSpPr>
          <p:cNvPr id="9" name="Rounded Rectangle 8"/>
          <p:cNvSpPr/>
          <p:nvPr/>
        </p:nvSpPr>
        <p:spPr>
          <a:xfrm>
            <a:off x="6172200" y="1645920"/>
            <a:ext cx="5257800" cy="4389120"/>
          </a:xfrm>
          <a:prstGeom prst="roundRect">
            <a:avLst/>
          </a:prstGeom>
          <a:solidFill>
            <a:srgbClr val="F0F9FF"/>
          </a:solidFill>
          <a:ln w="1524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gemini_teacher_test.jpg"/>
          <p:cNvPicPr>
            <a:picLocks noChangeAspect="1"/>
          </p:cNvPicPr>
          <p:nvPr/>
        </p:nvPicPr>
        <p:blipFill>
          <a:blip r:embed="rId3"/>
          <a:stretch>
            <a:fillRect/>
          </a:stretch>
        </p:blipFill>
        <p:spPr>
          <a:xfrm>
            <a:off x="6355080" y="1828800"/>
            <a:ext cx="4892040" cy="2743200"/>
          </a:xfrm>
          <a:prstGeom prst="rect">
            <a:avLst/>
          </a:prstGeom>
        </p:spPr>
      </p:pic>
      <p:sp>
        <p:nvSpPr>
          <p:cNvPr id="11" name="TextBox 10"/>
          <p:cNvSpPr txBox="1"/>
          <p:nvPr/>
        </p:nvSpPr>
        <p:spPr>
          <a:xfrm>
            <a:off x="6355080" y="4663440"/>
            <a:ext cx="4892040" cy="1188720"/>
          </a:xfrm>
          <a:prstGeom prst="rect">
            <a:avLst/>
          </a:prstGeom>
          <a:noFill/>
        </p:spPr>
        <p:txBody>
          <a:bodyPr wrap="square">
            <a:spAutoFit/>
          </a:bodyPr>
          <a:lstStyle/>
          <a:p>
            <a:pPr>
              <a:defRPr sz="1100">
                <a:solidFill>
                  <a:srgbClr val="059669"/>
                </a:solidFill>
              </a:defRPr>
            </a:pPr>
            <a:r>
              <a:t>✅ GEMINI 2.0 (DISTILLATION TEACHER): CHUẨN XÁC 100% CẢ 3 KHỐI TEXT (Đủ 4 dấu kép khó nhất) + Giữ trọn tai nghe + Bố cục thương mại đỉnh cao!</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CHIẾN LƯỢC CHUYỂN GIAO TRI THỨC</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10 / 11</a:t>
            </a:r>
          </a:p>
        </p:txBody>
      </p:sp>
      <p:sp>
        <p:nvSpPr>
          <p:cNvPr id="5" name="TextBox 4"/>
          <p:cNvSpPr txBox="1"/>
          <p:nvPr/>
        </p:nvSpPr>
        <p:spPr>
          <a:xfrm>
            <a:off x="731520" y="685800"/>
            <a:ext cx="10698480" cy="731520"/>
          </a:xfrm>
          <a:prstGeom prst="rect">
            <a:avLst/>
          </a:prstGeom>
          <a:noFill/>
        </p:spPr>
        <p:txBody>
          <a:bodyPr wrap="square">
            <a:spAutoFit/>
          </a:bodyPr>
          <a:lstStyle/>
          <a:p>
            <a:pPr>
              <a:defRPr sz="2300" b="1">
                <a:solidFill>
                  <a:srgbClr val="0F172A"/>
                </a:solidFill>
                <a:latin typeface="Segoe UI"/>
              </a:defRPr>
            </a:pPr>
            <a:r>
              <a:t>Chiến Lược Huấn Luyện LoRA DiT 4B Base (Phase 3 Master Roadmap)</a:t>
            </a:r>
          </a:p>
        </p:txBody>
      </p:sp>
      <p:sp>
        <p:nvSpPr>
          <p:cNvPr id="6" name="Rounded Rectangle 5"/>
          <p:cNvSpPr/>
          <p:nvPr/>
        </p:nvSpPr>
        <p:spPr>
          <a:xfrm>
            <a:off x="731520"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828800"/>
            <a:ext cx="3090672" cy="4023360"/>
          </a:xfrm>
          <a:prstGeom prst="rect">
            <a:avLst/>
          </a:prstGeom>
          <a:noFill/>
        </p:spPr>
        <p:txBody>
          <a:bodyPr wrap="square">
            <a:spAutoFit/>
          </a:bodyPr>
          <a:lstStyle/>
          <a:p>
            <a:pPr>
              <a:defRPr sz="1400" b="1">
                <a:solidFill>
                  <a:srgbClr val="0F172A"/>
                </a:solidFill>
              </a:defRPr>
            </a:pPr>
            <a:r>
              <a:t>MILESTONE A (600 steps)</a:t>
            </a:r>
          </a:p>
          <a:p>
            <a:pPr>
              <a:spcBef>
                <a:spcPts val="1400"/>
              </a:spcBef>
              <a:defRPr sz="1200">
                <a:solidFill>
                  <a:srgbClr val="0F172A"/>
                </a:solidFill>
              </a:defRPr>
            </a:pPr>
            <a:r>
              <a:t>Hòa Trộn 1 SP + 1 Headline</a:t>
            </a:r>
            <a:br/>
            <a:r>
              <a:t>• 500 mẫu (300 SP + 200 T2I)</a:t>
            </a:r>
            <a:br/>
            <a:r>
              <a:t>• Cân bằng Softmax giữa mỏ neo 4096 tokens và Headline.</a:t>
            </a:r>
            <a:br/>
            <a:r>
              <a:t>• Nghiệm thu: Headline 100%, SP &gt;= 98%.</a:t>
            </a:r>
          </a:p>
        </p:txBody>
      </p:sp>
      <p:sp>
        <p:nvSpPr>
          <p:cNvPr id="8" name="Rounded Rectangle 7"/>
          <p:cNvSpPr/>
          <p:nvPr/>
        </p:nvSpPr>
        <p:spPr>
          <a:xfrm>
            <a:off x="4370832" y="1645920"/>
            <a:ext cx="3456432"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53712" y="1828800"/>
            <a:ext cx="3090672" cy="4023360"/>
          </a:xfrm>
          <a:prstGeom prst="rect">
            <a:avLst/>
          </a:prstGeom>
          <a:noFill/>
        </p:spPr>
        <p:txBody>
          <a:bodyPr wrap="square">
            <a:spAutoFit/>
          </a:bodyPr>
          <a:lstStyle/>
          <a:p>
            <a:pPr>
              <a:defRPr sz="1400" b="1">
                <a:solidFill>
                  <a:srgbClr val="0F172A"/>
                </a:solidFill>
              </a:defRPr>
            </a:pPr>
            <a:r>
              <a:t>MILESTONE B (1,200 steps)</a:t>
            </a:r>
          </a:p>
          <a:p>
            <a:pPr>
              <a:spcBef>
                <a:spcPts val="1400"/>
              </a:spcBef>
              <a:defRPr sz="1200">
                <a:solidFill>
                  <a:srgbClr val="0F172A"/>
                </a:solidFill>
              </a:defRPr>
            </a:pPr>
            <a:r>
              <a:t>Tách Kênh 2 Khối Text</a:t>
            </a:r>
            <a:br/>
            <a:r>
              <a:t>• 1,500 mẫu (900 SP + 600 T2I)</a:t>
            </a:r>
            <a:br/>
            <a:r>
              <a:t>• Kích hoạt phân luồng kênh t=20, triệt tiêu rò rỉ Ref-to-Ref.</a:t>
            </a:r>
            <a:br/>
            <a:r>
              <a:t>• Nghiệm thu: Cả 2 dòng chữ render đúng 100%.</a:t>
            </a:r>
          </a:p>
        </p:txBody>
      </p:sp>
      <p:sp>
        <p:nvSpPr>
          <p:cNvPr id="10" name="Rounded Rectangle 9"/>
          <p:cNvSpPr/>
          <p:nvPr/>
        </p:nvSpPr>
        <p:spPr>
          <a:xfrm>
            <a:off x="8010144" y="1645920"/>
            <a:ext cx="3456432" cy="4389120"/>
          </a:xfrm>
          <a:prstGeom prst="roundRect">
            <a:avLst/>
          </a:prstGeom>
          <a:solidFill>
            <a:srgbClr val="F0F9FF"/>
          </a:solidFill>
          <a:ln w="1524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93024" y="1828800"/>
            <a:ext cx="3090672" cy="4023360"/>
          </a:xfrm>
          <a:prstGeom prst="rect">
            <a:avLst/>
          </a:prstGeom>
          <a:noFill/>
        </p:spPr>
        <p:txBody>
          <a:bodyPr wrap="square">
            <a:spAutoFit/>
          </a:bodyPr>
          <a:lstStyle/>
          <a:p>
            <a:pPr>
              <a:defRPr sz="1400" b="1">
                <a:solidFill>
                  <a:srgbClr val="0284C7"/>
                </a:solidFill>
              </a:defRPr>
            </a:pPr>
            <a:r>
              <a:t>MILESTONE C (2,200 steps)</a:t>
            </a:r>
          </a:p>
          <a:p>
            <a:pPr>
              <a:spcBef>
                <a:spcPts val="1400"/>
              </a:spcBef>
              <a:defRPr sz="1200">
                <a:solidFill>
                  <a:srgbClr val="0F172A"/>
                </a:solidFill>
              </a:defRPr>
            </a:pPr>
            <a:r>
              <a:t>Full 4-5 Slot Production</a:t>
            </a:r>
            <a:br/>
            <a:r>
              <a:t>• 2,500 mẫu toàn diện</a:t>
            </a:r>
            <a:br/>
            <a:r>
              <a:t>• Khóa cứng Attention 3-4 khối text (gồm Tier Cực Hạn 5-slot).</a:t>
            </a:r>
            <a:br/>
            <a:r>
              <a:t>• Nghiệm thu: Benchmark đạt &gt;= 95% tổng thể.</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7315200" cy="320040"/>
          </a:xfrm>
          <a:prstGeom prst="rect">
            <a:avLst/>
          </a:prstGeom>
          <a:noFill/>
        </p:spPr>
        <p:txBody>
          <a:bodyPr wrap="square">
            <a:spAutoFit/>
          </a:bodyPr>
          <a:lstStyle/>
          <a:p>
            <a:pPr>
              <a:defRPr sz="1100" b="1">
                <a:solidFill>
                  <a:srgbClr val="0284C7"/>
                </a:solidFill>
                <a:latin typeface="Segoe UI"/>
              </a:defRPr>
            </a:pPr>
            <a:r>
              <a:t>TENDOO AI  |  ĐỀ XUẤT PHÊ DUYỆT &amp; KẾ HOẠCH</a:t>
            </a:r>
          </a:p>
        </p:txBody>
      </p:sp>
      <p:sp>
        <p:nvSpPr>
          <p:cNvPr id="4" name="TextBox 3"/>
          <p:cNvSpPr txBox="1"/>
          <p:nvPr/>
        </p:nvSpPr>
        <p:spPr>
          <a:xfrm>
            <a:off x="10515600" y="365760"/>
            <a:ext cx="914400" cy="320040"/>
          </a:xfrm>
          <a:prstGeom prst="rect">
            <a:avLst/>
          </a:prstGeom>
          <a:noFill/>
        </p:spPr>
        <p:txBody>
          <a:bodyPr wrap="none">
            <a:spAutoFit/>
          </a:bodyPr>
          <a:lstStyle/>
          <a:p>
            <a:pPr algn="r">
              <a:defRPr sz="1100" b="1">
                <a:solidFill>
                  <a:srgbClr val="64748B"/>
                </a:solidFill>
                <a:latin typeface="Segoe UI"/>
              </a:defRPr>
            </a:pPr>
            <a:r>
              <a:t>11 / 11</a:t>
            </a:r>
          </a:p>
        </p:txBody>
      </p:sp>
      <p:sp>
        <p:nvSpPr>
          <p:cNvPr id="5" name="TextBox 4"/>
          <p:cNvSpPr txBox="1"/>
          <p:nvPr/>
        </p:nvSpPr>
        <p:spPr>
          <a:xfrm>
            <a:off x="731520" y="685800"/>
            <a:ext cx="10698480" cy="731520"/>
          </a:xfrm>
          <a:prstGeom prst="rect">
            <a:avLst/>
          </a:prstGeom>
          <a:noFill/>
        </p:spPr>
        <p:txBody>
          <a:bodyPr wrap="square">
            <a:spAutoFit/>
          </a:bodyPr>
          <a:lstStyle/>
          <a:p>
            <a:pPr>
              <a:defRPr sz="2300" b="1">
                <a:solidFill>
                  <a:srgbClr val="0F172A"/>
                </a:solidFill>
                <a:latin typeface="Segoe UI"/>
              </a:defRPr>
            </a:pPr>
            <a:r>
              <a:t>Dự Toán Ngân Sách Siêu Tiết Kiệm &amp; Kế Hoạch Hoàn Thành 3 Ngày</a:t>
            </a:r>
          </a:p>
        </p:txBody>
      </p:sp>
      <p:sp>
        <p:nvSpPr>
          <p:cNvPr id="6" name="Rounded Rectangle 5"/>
          <p:cNvSpPr/>
          <p:nvPr/>
        </p:nvSpPr>
        <p:spPr>
          <a:xfrm>
            <a:off x="731520" y="1645920"/>
            <a:ext cx="5257800" cy="4389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874520"/>
            <a:ext cx="4800600" cy="3931920"/>
          </a:xfrm>
          <a:prstGeom prst="rect">
            <a:avLst/>
          </a:prstGeom>
          <a:noFill/>
        </p:spPr>
        <p:txBody>
          <a:bodyPr wrap="square">
            <a:spAutoFit/>
          </a:bodyPr>
          <a:lstStyle/>
          <a:p>
            <a:pPr>
              <a:defRPr sz="1500" b="1">
                <a:solidFill>
                  <a:srgbClr val="D97706"/>
                </a:solidFill>
              </a:defRPr>
            </a:pPr>
            <a:r>
              <a:t>💰 DỰ TOÁN KINH PHÍ API (SIÊU RẺ)</a:t>
            </a:r>
          </a:p>
          <a:p>
            <a:pPr>
              <a:spcBef>
                <a:spcPts val="1000"/>
              </a:spcBef>
              <a:defRPr sz="1100">
                <a:solidFill>
                  <a:srgbClr val="0F172A"/>
                </a:solidFill>
              </a:defRPr>
            </a:pPr>
            <a:r>
              <a:t>• Gói Pilot Milestone A (500 mẫu): $15 (~370.000 VNĐ)</a:t>
            </a:r>
            <a:br/>
            <a:r>
              <a:t>• Gói Toàn Diện Phase 3 (2,500 mẫu): $75 (~1.800.000 VNĐ)</a:t>
            </a:r>
            <a:br/>
            <a:r>
              <a:t>• Phương án Free Credits: Tận dụng $300 Google Cloud tặng sẵn -&gt; Chi phí thực tế = 0 VNĐ!</a:t>
            </a:r>
            <a:br/>
            <a:br/>
            <a:r>
              <a:t>💎 HIỆU QUẢ ĐẦU TƯ (ROI):</a:t>
            </a:r>
            <a:br/>
            <a:r>
              <a:t>• Sở hữu Model AI độc quyền chạy vĩnh viễn trên 2x GPU A30.</a:t>
            </a:r>
            <a:br/>
            <a:r>
              <a:t>• Tốc độ sinh banner: 1.5 giây / ảnh.</a:t>
            </a:r>
            <a:br/>
            <a:r>
              <a:t>• Tiết kiệm hàng trăm triệu tiền API hàng tháng khi thương mại hóa!</a:t>
            </a:r>
          </a:p>
        </p:txBody>
      </p:sp>
      <p:sp>
        <p:nvSpPr>
          <p:cNvPr id="8" name="Rounded Rectangle 7"/>
          <p:cNvSpPr/>
          <p:nvPr/>
        </p:nvSpPr>
        <p:spPr>
          <a:xfrm>
            <a:off x="6172200" y="1645920"/>
            <a:ext cx="5257800" cy="4389120"/>
          </a:xfrm>
          <a:prstGeom prst="roundRect">
            <a:avLst/>
          </a:prstGeom>
          <a:solidFill>
            <a:srgbClr val="F0F9FF"/>
          </a:solidFill>
          <a:ln w="1524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0" y="1874520"/>
            <a:ext cx="4800600" cy="3931920"/>
          </a:xfrm>
          <a:prstGeom prst="rect">
            <a:avLst/>
          </a:prstGeom>
          <a:noFill/>
        </p:spPr>
        <p:txBody>
          <a:bodyPr wrap="square">
            <a:spAutoFit/>
          </a:bodyPr>
          <a:lstStyle/>
          <a:p>
            <a:pPr>
              <a:defRPr sz="1500" b="1">
                <a:solidFill>
                  <a:srgbClr val="059669"/>
                </a:solidFill>
              </a:defRPr>
            </a:pPr>
            <a:r>
              <a:t>🚀 KẾ HOẠCH HÀNH ĐỘNG 3 NGÀY TỚI</a:t>
            </a:r>
          </a:p>
          <a:p>
            <a:pPr>
              <a:spcBef>
                <a:spcPts val="1000"/>
              </a:spcBef>
              <a:defRPr sz="1100">
                <a:solidFill>
                  <a:srgbClr val="0F172A"/>
                </a:solidFill>
              </a:defRPr>
            </a:pPr>
            <a:r>
              <a:t>• NGÀY 1: Cấp Key -&gt; Chạy `generate_distilled_dataset.py` sinh 500 mẫu Pilot -&gt; QA OCR &gt;= 98%.</a:t>
            </a:r>
            <a:br/>
            <a:br/>
            <a:r>
              <a:t>• NGÀY 2: Huấn luyện Milestone A &amp; B trên 2x A30 -&gt; Đánh giá 8 Golden Test Cases.</a:t>
            </a:r>
            <a:br/>
            <a:br/>
            <a:r>
              <a:t>• NGÀY 3: Huấn luyện hoàn tất Milestone C -&gt; Đóng gói Inference Pipeline End-to-End.</a:t>
            </a:r>
            <a:br/>
            <a:br/>
            <a:r>
              <a:t>👉 KIẾN NGHỊ: Phê duyệt cấp API Key Gemini để bấm máy khởi động dự án ngay hôm nay!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41</TotalTime>
  <Words>2291</Words>
  <Application>Microsoft Office PowerPoint</Application>
  <PresentationFormat>Widescreen</PresentationFormat>
  <Paragraphs>91</Paragraphs>
  <Slides>14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Segoe UI</vt:lpstr>
      <vt:lpstr>SF Pro Text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Minh Nguyen Cong</cp:lastModifiedBy>
  <cp:revision>2</cp:revision>
  <dcterms:created xsi:type="dcterms:W3CDTF">2013-01-27T09:14:16Z</dcterms:created>
  <dcterms:modified xsi:type="dcterms:W3CDTF">2026-08-25T11:00:40Z</dcterms:modified>
  <cp:category/>
</cp:coreProperties>
</file>